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Jon Keam and Brad Scalio present. Open by naming the room: Red Hat, Four Inc. and Carahsoft. Frame the hour - foundations, then the platform story, then live terminal, 5 for questions. The promise: every claim we make today, we run in a shell before you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lead with the technology. Lead with the shape of the problem. The chart is the argument: a year of demand arrives in six weeks, far above any capacity you can justify staffing year-round. The shaded gap is what automation absorbs. The card on the right that matters most is the last one: the data cannot leave, so the platform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right. The red stages already have a human reviewer in the loop, which makes them honest places to start. Exam selection is deliberately gray: that is a determination affecting a taxpayer, and it needs a much heavier governance conversation. Saying this unprompted buys enormous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are the event abstract made concrete. Each names the product that delivers it and the lab where the audience runs it. Do not linger - this slide exists so people can map the rest of 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bottom to top. The point is the two vertical pillars: automation and trust are not a layer you add at the end. A project that treats compliance as a phase after deployment discovers, at the worst possible moment, that it cannot produce evidence for anything that already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sequencing. Most agencies stall on rows 2 and 3 of the Prove phase - no accelerator capacity plan, and no written agreement on which data may be used. Neither is technical. Ask the room directly which phase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specific ask, not a thank-you. The architecture workshop is the natural next step. Then hand off to Four Inc. and Carahsoft for the contract vehicle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slide. Switch to a terminal now. Tell them the labs run in simulate mode on a laptop with no cluster, and in live mode against their own environment - same script, same commands. Run Lab 01 and stop hard on step 4, the endpoint bound to 127.0.0.1. The deck's Demo view plays every lab hands-free if you would rather narrate than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unblocks the deal. Every row is a control the platform provides, mapped to the question an authorizing official actually asks. Expect interruptions here - let them happen, this is the conversation you want. Offer to take the table offline with their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RED HAT  ·  FOUR INC.  ·  CARAHSOFT — VIRTUAL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B1211"/>
                </a:solidFill>
                <a:latin typeface="Red Hat Display"/>
              </a:rPr>
              <a:t>AI foundations for intelligent tax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4423E"/>
                </a:solidFill>
                <a:latin typeface="Red Hat Text"/>
              </a:rPr>
              <a:t>What predictive AI, generative AI and LLMs actually do — then how Red Hat turns models, agency knowledge and automation into an operable mission capability, proven in seven labs you run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4423E"/>
                </a:solidFill>
                <a:latin typeface="Red Hat Text"/>
              </a:rPr>
              <a:t>Presented by Jon Keam and Brad Scalio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THE OPERATING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work is seasonal, textual and unforgiving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903720" cy="4480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6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911096"/>
            <a:ext cx="6446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B1211"/>
                </a:solidFill>
                <a:latin typeface="Red Hat Display"/>
              </a:rPr>
              <a:t>A year of demand arrives in six weeks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6A64"/>
                </a:solidFill>
                <a:latin typeface="Red Hat Text"/>
              </a:rPr>
              <a:t>Taxpayer contacts per week — illustrative shape of a filing year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482803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327355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8720" y="5760720"/>
            <a:ext cx="6080760" cy="0"/>
          </a:xfrm>
          <a:prstGeom prst="line">
            <a:avLst/>
          </a:prstGeom>
          <a:ln w="127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188720" y="2651760"/>
            <a:ext cx="6080760" cy="3108960"/>
          </a:xfrm>
          <a:custGeom>
            <a:avLst/>
            <a:gdLst/>
            <a:ahLst/>
            <a:cxnLst/>
            <a:rect l="l" t="t" r="r" b="b"/>
            <a:pathLst>
              <a:path w="6080760" h="310896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  <a:lnTo>
                  <a:pt x="6080760" y="3108960"/>
                </a:lnTo>
                <a:lnTo>
                  <a:pt x="0" y="3108960"/>
                </a:lnTo>
                <a:close/>
              </a:path>
            </a:pathLst>
          </a:custGeom>
          <a:solidFill>
            <a:srgbClr val="F6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073194" y="2651760"/>
            <a:ext cx="1105592" cy="1181404"/>
          </a:xfrm>
          <a:custGeom>
            <a:avLst/>
            <a:gdLst/>
            <a:ahLst/>
            <a:cxnLst/>
            <a:rect l="l" t="t" r="r" b="b"/>
            <a:pathLst>
              <a:path w="1105592" h="1181404">
                <a:moveTo>
                  <a:pt x="0" y="1181404"/>
                </a:moveTo>
                <a:lnTo>
                  <a:pt x="0" y="1160521"/>
                </a:lnTo>
                <a:lnTo>
                  <a:pt x="55279" y="1043519"/>
                </a:lnTo>
                <a:lnTo>
                  <a:pt x="110559" y="950666"/>
                </a:lnTo>
                <a:lnTo>
                  <a:pt x="165839" y="891050"/>
                </a:lnTo>
                <a:lnTo>
                  <a:pt x="221118" y="870508"/>
                </a:lnTo>
                <a:lnTo>
                  <a:pt x="276398" y="849205"/>
                </a:lnTo>
                <a:lnTo>
                  <a:pt x="331678" y="787382"/>
                </a:lnTo>
                <a:lnTo>
                  <a:pt x="386957" y="691090"/>
                </a:lnTo>
                <a:lnTo>
                  <a:pt x="442237" y="569755"/>
                </a:lnTo>
                <a:lnTo>
                  <a:pt x="497516" y="435254"/>
                </a:lnTo>
                <a:lnTo>
                  <a:pt x="552796" y="300753"/>
                </a:lnTo>
                <a:lnTo>
                  <a:pt x="608076" y="179418"/>
                </a:lnTo>
                <a:lnTo>
                  <a:pt x="663355" y="83126"/>
                </a:lnTo>
                <a:lnTo>
                  <a:pt x="718635" y="21302"/>
                </a:lnTo>
                <a:lnTo>
                  <a:pt x="773915" y="0"/>
                </a:lnTo>
                <a:lnTo>
                  <a:pt x="829194" y="44127"/>
                </a:lnTo>
                <a:lnTo>
                  <a:pt x="884474" y="172189"/>
                </a:lnTo>
                <a:lnTo>
                  <a:pt x="939754" y="371652"/>
                </a:lnTo>
                <a:lnTo>
                  <a:pt x="995033" y="622989"/>
                </a:lnTo>
                <a:lnTo>
                  <a:pt x="1050313" y="901598"/>
                </a:lnTo>
                <a:lnTo>
                  <a:pt x="1105592" y="1180207"/>
                </a:lnTo>
                <a:lnTo>
                  <a:pt x="1105592" y="1181404"/>
                </a:lnTo>
                <a:close/>
              </a:path>
            </a:pathLst>
          </a:custGeom>
          <a:solidFill>
            <a:srgbClr val="E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88720" y="2651760"/>
            <a:ext cx="6080760" cy="2331720"/>
          </a:xfrm>
          <a:custGeom>
            <a:avLst/>
            <a:gdLst/>
            <a:ahLst/>
            <a:cxnLst/>
            <a:rect l="l" t="t" r="r" b="b"/>
            <a:pathLst>
              <a:path w="6080760" h="233172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</a:path>
            </a:pathLst>
          </a:custGeom>
          <a:noFill/>
          <a:ln w="317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88720" y="3833164"/>
            <a:ext cx="6080760" cy="0"/>
          </a:xfrm>
          <a:prstGeom prst="line">
            <a:avLst/>
          </a:prstGeom>
          <a:ln w="22225">
            <a:solidFill>
              <a:srgbClr val="5442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96309" y="2600960"/>
            <a:ext cx="101600" cy="1016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1701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April — 6× the August 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029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4423E"/>
                </a:solidFill>
                <a:latin typeface="Red Hat Text"/>
              </a:rPr>
              <a:t>the surge automation absorbs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88152" y="35954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4423E"/>
                </a:solidFill>
                <a:latin typeface="Red Hat Mono"/>
              </a:rPr>
              <a:t>staffed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5247" y="3730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Text"/>
              </a:rPr>
              <a:t>extension deadline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8636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1432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4229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7025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9821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2618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5414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21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1007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3803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1783080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1737360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Peak load, fixed staff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Idle capacity in August is unjustifiable; exhausted capacity in April is a headline.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862072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7304" y="2816352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SYSTEMS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Rules locked in legacy code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Rewriting the systems of record is a decade. Wrapping them is a quarter.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941063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7304" y="3895343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answers are in the text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Correspondence and case notes are unstructured — what language models are built for.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5020056"/>
            <a:ext cx="41148" cy="1188720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4974336"/>
            <a:ext cx="34198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THE CONSTRAINT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data cannot leave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FTI rules rule out public endpoints. The model comes to the data — on premises, accredited cloud, or air-gapped enclave.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WORKFLOW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Where AI actually lands in the filing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Red stages ship with a human on the signature. The gray one waits for governance.</a:t>
            </a:r>
          </a:p>
        </p:txBody>
      </p:sp>
      <p:sp>
        <p:nvSpPr>
          <p:cNvPr id="6" name="Chevron 5"/>
          <p:cNvSpPr/>
          <p:nvPr/>
        </p:nvSpPr>
        <p:spPr>
          <a:xfrm>
            <a:off x="777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Intake &amp;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Route by intent, not keyword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9" name="Chevron 8"/>
          <p:cNvSpPr/>
          <p:nvPr/>
        </p:nvSpPr>
        <p:spPr>
          <a:xfrm>
            <a:off x="26060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Catch gaps before a case is opened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2" name="Chevron 11"/>
          <p:cNvSpPr/>
          <p:nvPr/>
        </p:nvSpPr>
        <p:spPr>
          <a:xfrm>
            <a:off x="44348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Correspondence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Draft; a reviewer edits and signs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5" name="Chevron 14"/>
          <p:cNvSpPr/>
          <p:nvPr/>
        </p:nvSpPr>
        <p:spPr>
          <a:xfrm>
            <a:off x="6263640" y="2148840"/>
            <a:ext cx="1810512" cy="777240"/>
          </a:xfrm>
          <a:prstGeom prst="chevron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Exam</a:t>
            </a:r>
          </a:p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Taxpayer determinations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4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7E6A64"/>
                </a:solidFill>
                <a:latin typeface="Red Hat Mono"/>
              </a:rPr>
              <a:t>governance first</a:t>
            </a:r>
          </a:p>
        </p:txBody>
      </p:sp>
      <p:sp>
        <p:nvSpPr>
          <p:cNvPr id="18" name="Chevron 17"/>
          <p:cNvSpPr/>
          <p:nvPr/>
        </p:nvSpPr>
        <p:spPr>
          <a:xfrm>
            <a:off x="80924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Collections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Brief the officer before the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936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1" name="Chevron 20"/>
          <p:cNvSpPr/>
          <p:nvPr/>
        </p:nvSpPr>
        <p:spPr>
          <a:xfrm>
            <a:off x="9921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Taxpayer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Answers carry their citation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22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Start where a human already reviews the output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If a person signs the letter today, a model that drafts it changes throughput without changing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151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6743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Automate the toil around the model, not just the model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Provisioning, patching, scaling and evidence collection are most of the work — and that problem is already 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WHAT TEAMS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Five outcomes, and where each one is proven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9456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39496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Outcome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Platform capability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Modernize mission-critical operations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Ansible Automation Platform, Event-Driven 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Improve efficiency and accuracy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Red Hat AI Inference Server, 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01, 02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Unlock data-driven insights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vector 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Strengthen security and compliance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FIPS, Compliance Operator, TrustyAI, 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Build an AI-ready foundation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KServe, vLLM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One foundation, from bare metal to the taxpayer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A30000"/>
                </a:solidFill>
                <a:latin typeface="Red Hat Mono"/>
              </a:rPr>
              <a:t>TRUST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Signed models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FIPS crypto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SELinux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Compliance Operator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TrustyAI drift + bias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Audit trail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Air-gap mirroring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25735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E7F1F5"/>
          </a:solidFill>
          <a:ln w="15875">
            <a:solidFill>
              <a:srgbClr val="286C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25735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286C88"/>
                </a:solidFill>
                <a:latin typeface="Red Hat Mono"/>
              </a:rPr>
              <a:t>AUTOMATION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Ansible Automation Platform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Event-Driven Ansible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Provision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Patch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Remediate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Evidence collection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828800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1874520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Mission applications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Correspondence intake · Notice drafting · Case summarization · Guidance assistant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2487168"/>
            <a:ext cx="91440" cy="9144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487168"/>
            <a:ext cx="91440" cy="91440"/>
          </a:xfrm>
          <a:prstGeom prst="ellipse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20840" y="2487168"/>
            <a:ext cx="91440" cy="91440"/>
          </a:xfrm>
          <a:prstGeom prst="ellipse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0" y="2487168"/>
            <a:ext cx="91440" cy="91440"/>
          </a:xfrm>
          <a:prstGeom prst="ellipse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94560" y="2907792"/>
            <a:ext cx="7802575" cy="1207008"/>
          </a:xfrm>
          <a:prstGeom prst="roundRect">
            <a:avLst>
              <a:gd name="adj" fmla="val 10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2953512"/>
            <a:ext cx="6705295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 AI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2695" y="296265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Labs 02 · 03 · 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95728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serving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KServe + vLLM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864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179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Pipelines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tune · eval · promote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71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registry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versions · approvals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448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763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Retrieval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vector store · citations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79392"/>
            <a:ext cx="7802575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4325112"/>
            <a:ext cx="6705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Scheduling · GPU partitioning · network policy · multi-site placement · GitOps 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5221224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5266944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Enterprise Linux · AI Inference Server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Bare metal GPU nodes · virtualized datacenter · accredited cloud · classified enclave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2695" y="527608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79815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8183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3" name="Up Arrow 32"/>
          <p:cNvSpPr/>
          <p:nvPr/>
        </p:nvSpPr>
        <p:spPr>
          <a:xfrm>
            <a:off x="6013551" y="27614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013551" y="41330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6013551" y="5074920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ADOPTION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Ninety days, then ninety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here requires a rewrite of a system of record.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423160"/>
            <a:ext cx="10515600" cy="0"/>
          </a:xfrm>
          <a:prstGeom prst="line">
            <a:avLst/>
          </a:prstGeom>
          <a:ln w="254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86C88"/>
                </a:solidFill>
                <a:latin typeface="Red Hat Mono"/>
              </a:rPr>
              <a:t>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6620A"/>
                </a:solidFill>
                <a:latin typeface="Red Hat Mono"/>
              </a:rPr>
              <a:t>GROUND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6136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46136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SCALE</a:t>
            </a:r>
          </a:p>
        </p:txBody>
      </p:sp>
      <p:sp>
        <p:nvSpPr>
          <p:cNvPr id="13" name="Oval 12"/>
          <p:cNvSpPr/>
          <p:nvPr/>
        </p:nvSpPr>
        <p:spPr>
          <a:xfrm>
            <a:off x="987552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0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5928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90</a:t>
            </a:r>
          </a:p>
        </p:txBody>
      </p:sp>
      <p:sp>
        <p:nvSpPr>
          <p:cNvPr id="17" name="Oval 16"/>
          <p:cNvSpPr/>
          <p:nvPr/>
        </p:nvSpPr>
        <p:spPr>
          <a:xfrm>
            <a:off x="7882128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180</a:t>
            </a:r>
          </a:p>
        </p:txBody>
      </p:sp>
      <p:sp>
        <p:nvSpPr>
          <p:cNvPr id="19" name="Oval 18"/>
          <p:cNvSpPr/>
          <p:nvPr/>
        </p:nvSpPr>
        <p:spPr>
          <a:xfrm>
            <a:off x="11192256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344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270+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86C88"/>
                </a:solidFill>
                <a:latin typeface="Red Hat Display"/>
              </a:rPr>
              <a:t>Prove — days 0–90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endpoint on AI Inference Server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Accelerator capacity plan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Data classes agreed in writing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workflow with a reviewer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Baseline measured first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8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6620A"/>
                </a:solidFill>
                <a:latin typeface="Red Hat Display"/>
              </a:rPr>
              <a:t>Ground — days 90–180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Serving on OpenShift AI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Retrieval over your guidance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Tune on agency vocabulary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Drift and compliance wired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Provisioning automated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A30000"/>
                </a:solidFill>
                <a:latin typeface="Red Hat Display"/>
              </a:rPr>
              <a:t>Scale — days 180+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Registry with real approvals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Workflows two to five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Filing-season rehearsal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Extend to the enclave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Report in mission terms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What happens after this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Architecture workshop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Half a day with your platform and security teams to size accelerators, place the first workload and name the data classes in scope.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0514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5106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Guided pilot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One workflow, on your infrastructure, with a measured baseline and an agreed definition of success before we 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3788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8380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Acquisition path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Four Inc. and Carahsoft carry the vehicles and pricing. Bring them into the conversation early, not at the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B1211"/>
                </a:solidFill>
                <a:latin typeface="Red Hat Display"/>
              </a:rPr>
              <a:t>One thing to remember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in these seven labs required a public model endpoint, an internet connection at inference time, or a rewrite of a system of record. That is the whole argument.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HANDS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Seven labs — real commands, run them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Simulate mode needs no cluster, no GPU and no credentials. The Demo view plays them hands-free.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035040"/>
                <a:gridCol w="3657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What you do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Product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Serve a model inside your boundary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 Server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Teach it your notice taxonomy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SDG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Survive filing season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OpenShift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Ground answers in your guidance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Automate the toil around the model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Prove it to your ISSO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Compliance, 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07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Ask your own logs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Ops notebook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APPENDIX · TRUSTED, ENTERPRISE-READY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questions an authorizing official will ask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Their question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 platform control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Where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Where does our data go?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Nowhere. Inference runs on your cluster, your accelerators.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this the model we approved?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Artifacts signed and verified before admission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the cryptography validated?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 mode is a supported operating state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Still compliant next quarter?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Scheduled scans, machine-readable results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 Op.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How do we detect drift?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Drift and fairness metrics on live traffic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What if we are air-gapped?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Mirror images and models into the enclave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oc-mirror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Who is accountable?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 named reviewer. The model drafts; it never sends.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Workflow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