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Jon Keam and Brad Scalio present. Open by naming the room: Red Hat, Four Inc. and Carahsoft. Frame the hour — foundations, then the platform story, then live terminal, 5 for questions. The promise: every claim we make today, we run in a shell before you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spine of the hour. Read it left to right: the platform holds the data, predictive AI and inference turn it into information, generative AI with retrieval turns that into knowledge, and a person turns knowledge into a determination they sign. Judgement is deliberately never automated — Ansible, the registry and Sigstore execute and record what a person decided. Every later slide tags its technologies with one of these four rungs.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lead with the technology. Lead with the shape of the problem. The chart is the argument: a year of demand arrives in six weeks, far above any capacity you can justify staffing year-round. The shaded gap is what automation absorbs. The card on the right that matters most is the last one: the data cannot leave, so the platform is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flow left to right. The red stages already have a human reviewer in the loop, which makes them honest places to start. Exam selection is deliberately gray: that is a determination affecting a taxpayer, and it needs a much heavier governance conversation. Saying this unprompted buys enormous credibility.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are the event abstract made concrete. Each names the product that delivers it and the lab where the audience runs it. Do not linger — this slide exists so people can map the rest of the hour.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bottom to top. The point is the two vertical pillars: automation and trust are not a layer you add at the end. A project that treats compliance as a phase after deployment discovers, at the worst possible moment, that it cannot produce evidence for anything that already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sequencing. Most agencies stall on rows 2 and 3 of the Prove phase — no accelerator capacity plan, and no written agreement on which data may be used. Neither is technical. Ask the room directly which phase they are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 specific ask, not a thank-you. The architecture workshop is the natural next step. Then hand off to Four Inc. and Carahsoft for the contract vehicle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slide. Switch to a terminal now. Tell them the labs run in simulate mode on a laptop with no cluster, and in live mode against their own environment — same script, same commands. Run Lab 01 and stop hard on step 4, the endpoint bound to 127.0.0.1. The deck's Demo view plays every lab hands-free if you would rather narrate than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unblocks the deal. Every row is a control the platform provides, mapped to the question an authorizing official actually asks. Expect interruptions here — let them happen, this is the conversation you want. Offer to take the table offline with their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C0000"/>
                </a:solidFill>
                <a:latin typeface="Red Hat Mono"/>
              </a:rPr>
              <a:t>RED HAT  ·  FOUR INC.  ·  CARAHSOFT — VIRTUAL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1B1211"/>
                </a:solidFill>
                <a:latin typeface="Red Hat Display"/>
              </a:rPr>
              <a:t>AI foundations for intelligent tax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343400"/>
            <a:ext cx="8595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4423E"/>
                </a:solidFill>
                <a:latin typeface="Red Hat Text"/>
              </a:rPr>
              <a:t>What predictive AI, generative AI and LLMs actually do — then how Red Hat turns models, agency knowledge and automation into an operable mission capability, proven in seven labs you run yourself.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492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4423E"/>
                </a:solidFill>
                <a:latin typeface="Red Hat Text"/>
              </a:rPr>
              <a:t>Presented by Jon Keam (jkeam@redhat.com) and Brad Scalio (bscalio@redhat.com)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From data to judgement — and who climbs each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Every technology in this hour is tagged with the rung it serves. AI moves work up the ladder; it never takes the top step.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438144"/>
            <a:ext cx="2467279" cy="259689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438144"/>
            <a:ext cx="2467279" cy="6400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621024"/>
            <a:ext cx="2101519" cy="2276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CC0000"/>
                </a:solidFill>
                <a:latin typeface="Red Hat Mono"/>
              </a:rPr>
              <a:t>DATA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What happened, uninterpreted: returns, transcripts, calls, logs, telemetry. Where it lives decides the architecture.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RHEL · OpenShift · OpenShift Logging · accelerators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71951" y="3392424"/>
            <a:ext cx="201168" cy="182880"/>
          </a:xfrm>
          <a:prstGeom prst="rightArrow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00551" y="3054096"/>
            <a:ext cx="2467279" cy="298094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0551" y="3054096"/>
            <a:ext cx="2467279" cy="640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3431" y="3236976"/>
            <a:ext cx="2101519" cy="2660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C2410C"/>
                </a:solidFill>
                <a:latin typeface="Red Hat Mono"/>
              </a:rPr>
              <a:t>INFORMATION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Data in context for one case: a classification, a score, a diagnosis, a metric. What predictive AI and inference produce.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AI Inference Server · KServe + vLLM · Granite · TrustyAI · Models-as-a-Service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95262" y="3008376"/>
            <a:ext cx="201168" cy="182880"/>
          </a:xfrm>
          <a:prstGeom prst="rightArrow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23862" y="2670048"/>
            <a:ext cx="2467279" cy="336499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3862" y="2670048"/>
            <a:ext cx="2467279" cy="64008"/>
          </a:xfrm>
          <a:prstGeom prst="rect">
            <a:avLst/>
          </a:prstGeom>
          <a:solidFill>
            <a:srgbClr val="1E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6742" y="2852928"/>
            <a:ext cx="2101519" cy="3044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E7A55"/>
                </a:solidFill>
                <a:latin typeface="Red Hat Mono"/>
              </a:rPr>
              <a:t>KNOWLEDGE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Information that informs an outcome: guidance, precedent, runbooks, taxonomies. The institution's memory, retrievable and cited.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SDG Hub · Training Hub · pipelines · retrieval / vector store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18573" y="2624328"/>
            <a:ext cx="201168" cy="182880"/>
          </a:xfrm>
          <a:prstGeom prst="rightArrow">
            <a:avLst/>
          </a:prstGeom>
          <a:solidFill>
            <a:srgbClr val="1E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47173" y="2286000"/>
            <a:ext cx="2467279" cy="37490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47173" y="2286000"/>
            <a:ext cx="2467279" cy="64008"/>
          </a:xfrm>
          <a:prstGeom prst="rect">
            <a:avLst/>
          </a:prstGeom>
          <a:solidFill>
            <a:srgbClr val="5B2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0053" y="2468880"/>
            <a:ext cx="2101519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B2E91"/>
                </a:solidFill>
                <a:latin typeface="Red Hat Mono"/>
              </a:rPr>
              <a:t>JUDGEMENT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A determination someone signs. Deliberately human; automation executes what was decided, it never decides.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Human reviewer · model registry · Sigstore · Ansible executes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THE OPERATING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The work is seasonal, textual and unforgiving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6903720" cy="4480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6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911096"/>
            <a:ext cx="6446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B1211"/>
                </a:solidFill>
                <a:latin typeface="Red Hat Display"/>
              </a:rPr>
              <a:t>A year of demand arrives in six weeks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6A64"/>
                </a:solidFill>
                <a:latin typeface="Red Hat Text"/>
              </a:rPr>
              <a:t>Taxpayer contacts per week — illustrative shape of a filing year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88720" y="4828032"/>
            <a:ext cx="6080760" cy="0"/>
          </a:xfrm>
          <a:prstGeom prst="line">
            <a:avLst/>
          </a:prstGeom>
          <a:ln w="9525">
            <a:solidFill>
              <a:srgbClr val="E6DD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88720" y="3273552"/>
            <a:ext cx="6080760" cy="0"/>
          </a:xfrm>
          <a:prstGeom prst="line">
            <a:avLst/>
          </a:prstGeom>
          <a:ln w="9525">
            <a:solidFill>
              <a:srgbClr val="E6DD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88720" y="5760720"/>
            <a:ext cx="6080760" cy="0"/>
          </a:xfrm>
          <a:prstGeom prst="line">
            <a:avLst/>
          </a:prstGeom>
          <a:ln w="12700">
            <a:solidFill>
              <a:srgbClr val="CFC2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1188720" y="2651760"/>
            <a:ext cx="6080760" cy="3108960"/>
          </a:xfrm>
          <a:custGeom>
            <a:avLst/>
            <a:gdLst/>
            <a:ahLst/>
            <a:cxnLst/>
            <a:rect l="l" t="t" r="r" b="b"/>
            <a:pathLst>
              <a:path w="6080760" h="3108960">
                <a:moveTo>
                  <a:pt x="0" y="2020824"/>
                </a:moveTo>
                <a:lnTo>
                  <a:pt x="55279" y="2013215"/>
                </a:lnTo>
                <a:lnTo>
                  <a:pt x="110559" y="1991136"/>
                </a:lnTo>
                <a:lnTo>
                  <a:pt x="165838" y="1956746"/>
                </a:lnTo>
                <a:lnTo>
                  <a:pt x="221118" y="1913412"/>
                </a:lnTo>
                <a:lnTo>
                  <a:pt x="276398" y="1865376"/>
                </a:lnTo>
                <a:lnTo>
                  <a:pt x="331677" y="1817339"/>
                </a:lnTo>
                <a:lnTo>
                  <a:pt x="386957" y="1774005"/>
                </a:lnTo>
                <a:lnTo>
                  <a:pt x="442237" y="1739615"/>
                </a:lnTo>
                <a:lnTo>
                  <a:pt x="497516" y="1717536"/>
                </a:lnTo>
                <a:lnTo>
                  <a:pt x="552796" y="1709928"/>
                </a:lnTo>
                <a:lnTo>
                  <a:pt x="608076" y="1689385"/>
                </a:lnTo>
                <a:lnTo>
                  <a:pt x="663355" y="1629770"/>
                </a:lnTo>
                <a:lnTo>
                  <a:pt x="718635" y="1536917"/>
                </a:lnTo>
                <a:lnTo>
                  <a:pt x="773914" y="1419915"/>
                </a:lnTo>
                <a:lnTo>
                  <a:pt x="829194" y="1290218"/>
                </a:lnTo>
                <a:lnTo>
                  <a:pt x="884474" y="1160521"/>
                </a:lnTo>
                <a:lnTo>
                  <a:pt x="939753" y="1043519"/>
                </a:lnTo>
                <a:lnTo>
                  <a:pt x="995033" y="950666"/>
                </a:lnTo>
                <a:lnTo>
                  <a:pt x="1050313" y="891050"/>
                </a:lnTo>
                <a:lnTo>
                  <a:pt x="1105592" y="870508"/>
                </a:lnTo>
                <a:lnTo>
                  <a:pt x="1160872" y="849205"/>
                </a:lnTo>
                <a:lnTo>
                  <a:pt x="1216152" y="787382"/>
                </a:lnTo>
                <a:lnTo>
                  <a:pt x="1271431" y="691090"/>
                </a:lnTo>
                <a:lnTo>
                  <a:pt x="1326711" y="569755"/>
                </a:lnTo>
                <a:lnTo>
                  <a:pt x="1381990" y="435254"/>
                </a:lnTo>
                <a:lnTo>
                  <a:pt x="1437270" y="300753"/>
                </a:lnTo>
                <a:lnTo>
                  <a:pt x="1492550" y="179418"/>
                </a:lnTo>
                <a:lnTo>
                  <a:pt x="1547829" y="83126"/>
                </a:lnTo>
                <a:lnTo>
                  <a:pt x="1603109" y="21302"/>
                </a:lnTo>
                <a:lnTo>
                  <a:pt x="1658389" y="0"/>
                </a:lnTo>
                <a:lnTo>
                  <a:pt x="1713668" y="44127"/>
                </a:lnTo>
                <a:lnTo>
                  <a:pt x="1768948" y="172189"/>
                </a:lnTo>
                <a:lnTo>
                  <a:pt x="1824228" y="371652"/>
                </a:lnTo>
                <a:lnTo>
                  <a:pt x="1879507" y="622989"/>
                </a:lnTo>
                <a:lnTo>
                  <a:pt x="1934787" y="901598"/>
                </a:lnTo>
                <a:lnTo>
                  <a:pt x="1990066" y="1180207"/>
                </a:lnTo>
                <a:lnTo>
                  <a:pt x="2045346" y="1431544"/>
                </a:lnTo>
                <a:lnTo>
                  <a:pt x="2100626" y="1631006"/>
                </a:lnTo>
                <a:lnTo>
                  <a:pt x="2155905" y="1759069"/>
                </a:lnTo>
                <a:lnTo>
                  <a:pt x="2211185" y="1803196"/>
                </a:lnTo>
                <a:lnTo>
                  <a:pt x="2266465" y="1812326"/>
                </a:lnTo>
                <a:lnTo>
                  <a:pt x="2321744" y="1838822"/>
                </a:lnTo>
                <a:lnTo>
                  <a:pt x="2377024" y="1880090"/>
                </a:lnTo>
                <a:lnTo>
                  <a:pt x="2432304" y="1932091"/>
                </a:lnTo>
                <a:lnTo>
                  <a:pt x="2487583" y="1989734"/>
                </a:lnTo>
                <a:lnTo>
                  <a:pt x="2542863" y="2047377"/>
                </a:lnTo>
                <a:lnTo>
                  <a:pt x="2598142" y="2099378"/>
                </a:lnTo>
                <a:lnTo>
                  <a:pt x="2653422" y="2140646"/>
                </a:lnTo>
                <a:lnTo>
                  <a:pt x="2708702" y="2167142"/>
                </a:lnTo>
                <a:lnTo>
                  <a:pt x="2763981" y="2176272"/>
                </a:lnTo>
                <a:lnTo>
                  <a:pt x="2819261" y="2178554"/>
                </a:lnTo>
                <a:lnTo>
                  <a:pt x="2874541" y="2185178"/>
                </a:lnTo>
                <a:lnTo>
                  <a:pt x="2929820" y="2195495"/>
                </a:lnTo>
                <a:lnTo>
                  <a:pt x="2985100" y="2208495"/>
                </a:lnTo>
                <a:lnTo>
                  <a:pt x="3040380" y="2222906"/>
                </a:lnTo>
                <a:lnTo>
                  <a:pt x="3095659" y="2237317"/>
                </a:lnTo>
                <a:lnTo>
                  <a:pt x="3150939" y="2250317"/>
                </a:lnTo>
                <a:lnTo>
                  <a:pt x="3206218" y="2260634"/>
                </a:lnTo>
                <a:lnTo>
                  <a:pt x="3261498" y="2267258"/>
                </a:lnTo>
                <a:lnTo>
                  <a:pt x="3316778" y="2269540"/>
                </a:lnTo>
                <a:lnTo>
                  <a:pt x="3372057" y="2271062"/>
                </a:lnTo>
                <a:lnTo>
                  <a:pt x="3427337" y="2275478"/>
                </a:lnTo>
                <a:lnTo>
                  <a:pt x="3482617" y="2282356"/>
                </a:lnTo>
                <a:lnTo>
                  <a:pt x="3537896" y="2291023"/>
                </a:lnTo>
                <a:lnTo>
                  <a:pt x="3593176" y="2300630"/>
                </a:lnTo>
                <a:lnTo>
                  <a:pt x="3648456" y="2310237"/>
                </a:lnTo>
                <a:lnTo>
                  <a:pt x="3703735" y="2318904"/>
                </a:lnTo>
                <a:lnTo>
                  <a:pt x="3759015" y="2325782"/>
                </a:lnTo>
                <a:lnTo>
                  <a:pt x="3814294" y="2330198"/>
                </a:lnTo>
                <a:lnTo>
                  <a:pt x="3869574" y="2331720"/>
                </a:lnTo>
                <a:lnTo>
                  <a:pt x="3924854" y="2327915"/>
                </a:lnTo>
                <a:lnTo>
                  <a:pt x="3980133" y="2316876"/>
                </a:lnTo>
                <a:lnTo>
                  <a:pt x="4035413" y="2299681"/>
                </a:lnTo>
                <a:lnTo>
                  <a:pt x="4090693" y="2278014"/>
                </a:lnTo>
                <a:lnTo>
                  <a:pt x="4145972" y="2253996"/>
                </a:lnTo>
                <a:lnTo>
                  <a:pt x="4201252" y="2229977"/>
                </a:lnTo>
                <a:lnTo>
                  <a:pt x="4256532" y="2208310"/>
                </a:lnTo>
                <a:lnTo>
                  <a:pt x="4311811" y="2191115"/>
                </a:lnTo>
                <a:lnTo>
                  <a:pt x="4367091" y="2180076"/>
                </a:lnTo>
                <a:lnTo>
                  <a:pt x="4422370" y="2176272"/>
                </a:lnTo>
                <a:lnTo>
                  <a:pt x="4477650" y="2157251"/>
                </a:lnTo>
                <a:lnTo>
                  <a:pt x="4532930" y="2102052"/>
                </a:lnTo>
                <a:lnTo>
                  <a:pt x="4588209" y="2016077"/>
                </a:lnTo>
                <a:lnTo>
                  <a:pt x="4643489" y="1907742"/>
                </a:lnTo>
                <a:lnTo>
                  <a:pt x="4698769" y="1787652"/>
                </a:lnTo>
                <a:lnTo>
                  <a:pt x="4754048" y="1667561"/>
                </a:lnTo>
                <a:lnTo>
                  <a:pt x="4809328" y="1559226"/>
                </a:lnTo>
                <a:lnTo>
                  <a:pt x="4864608" y="1473251"/>
                </a:lnTo>
                <a:lnTo>
                  <a:pt x="4919887" y="1418052"/>
                </a:lnTo>
                <a:lnTo>
                  <a:pt x="4975167" y="1399032"/>
                </a:lnTo>
                <a:lnTo>
                  <a:pt x="5030446" y="1419574"/>
                </a:lnTo>
                <a:lnTo>
                  <a:pt x="5085726" y="1479189"/>
                </a:lnTo>
                <a:lnTo>
                  <a:pt x="5141006" y="1572042"/>
                </a:lnTo>
                <a:lnTo>
                  <a:pt x="5196285" y="1689044"/>
                </a:lnTo>
                <a:lnTo>
                  <a:pt x="5251565" y="1818741"/>
                </a:lnTo>
                <a:lnTo>
                  <a:pt x="5306845" y="1948438"/>
                </a:lnTo>
                <a:lnTo>
                  <a:pt x="5362124" y="2065440"/>
                </a:lnTo>
                <a:lnTo>
                  <a:pt x="5417404" y="2158293"/>
                </a:lnTo>
                <a:lnTo>
                  <a:pt x="5472684" y="2217909"/>
                </a:lnTo>
                <a:lnTo>
                  <a:pt x="5527963" y="2238451"/>
                </a:lnTo>
                <a:lnTo>
                  <a:pt x="5583243" y="2235407"/>
                </a:lnTo>
                <a:lnTo>
                  <a:pt x="5638522" y="2226576"/>
                </a:lnTo>
                <a:lnTo>
                  <a:pt x="5693802" y="2212820"/>
                </a:lnTo>
                <a:lnTo>
                  <a:pt x="5749082" y="2195486"/>
                </a:lnTo>
                <a:lnTo>
                  <a:pt x="5804361" y="2176272"/>
                </a:lnTo>
                <a:lnTo>
                  <a:pt x="5859641" y="2157057"/>
                </a:lnTo>
                <a:lnTo>
                  <a:pt x="5914921" y="2139723"/>
                </a:lnTo>
                <a:lnTo>
                  <a:pt x="5970200" y="2125967"/>
                </a:lnTo>
                <a:lnTo>
                  <a:pt x="6025480" y="2117136"/>
                </a:lnTo>
                <a:lnTo>
                  <a:pt x="6080760" y="2114092"/>
                </a:lnTo>
                <a:lnTo>
                  <a:pt x="6080760" y="3108960"/>
                </a:lnTo>
                <a:lnTo>
                  <a:pt x="0" y="3108960"/>
                </a:lnTo>
                <a:close/>
              </a:path>
            </a:pathLst>
          </a:custGeom>
          <a:solidFill>
            <a:srgbClr val="F6C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2073194" y="2651760"/>
            <a:ext cx="1105592" cy="1181404"/>
          </a:xfrm>
          <a:custGeom>
            <a:avLst/>
            <a:gdLst/>
            <a:ahLst/>
            <a:cxnLst/>
            <a:rect l="l" t="t" r="r" b="b"/>
            <a:pathLst>
              <a:path w="1105592" h="1181404">
                <a:moveTo>
                  <a:pt x="0" y="1181404"/>
                </a:moveTo>
                <a:lnTo>
                  <a:pt x="0" y="1160521"/>
                </a:lnTo>
                <a:lnTo>
                  <a:pt x="55279" y="1043519"/>
                </a:lnTo>
                <a:lnTo>
                  <a:pt x="110559" y="950666"/>
                </a:lnTo>
                <a:lnTo>
                  <a:pt x="165839" y="891050"/>
                </a:lnTo>
                <a:lnTo>
                  <a:pt x="221118" y="870508"/>
                </a:lnTo>
                <a:lnTo>
                  <a:pt x="276398" y="849205"/>
                </a:lnTo>
                <a:lnTo>
                  <a:pt x="331678" y="787382"/>
                </a:lnTo>
                <a:lnTo>
                  <a:pt x="386957" y="691090"/>
                </a:lnTo>
                <a:lnTo>
                  <a:pt x="442237" y="569755"/>
                </a:lnTo>
                <a:lnTo>
                  <a:pt x="497516" y="435254"/>
                </a:lnTo>
                <a:lnTo>
                  <a:pt x="552796" y="300753"/>
                </a:lnTo>
                <a:lnTo>
                  <a:pt x="608076" y="179418"/>
                </a:lnTo>
                <a:lnTo>
                  <a:pt x="663355" y="83126"/>
                </a:lnTo>
                <a:lnTo>
                  <a:pt x="718635" y="21302"/>
                </a:lnTo>
                <a:lnTo>
                  <a:pt x="773915" y="0"/>
                </a:lnTo>
                <a:lnTo>
                  <a:pt x="829194" y="44127"/>
                </a:lnTo>
                <a:lnTo>
                  <a:pt x="884474" y="172189"/>
                </a:lnTo>
                <a:lnTo>
                  <a:pt x="939754" y="371652"/>
                </a:lnTo>
                <a:lnTo>
                  <a:pt x="995033" y="622989"/>
                </a:lnTo>
                <a:lnTo>
                  <a:pt x="1050313" y="901598"/>
                </a:lnTo>
                <a:lnTo>
                  <a:pt x="1105592" y="1180207"/>
                </a:lnTo>
                <a:lnTo>
                  <a:pt x="1105592" y="1181404"/>
                </a:lnTo>
                <a:close/>
              </a:path>
            </a:pathLst>
          </a:custGeom>
          <a:solidFill>
            <a:srgbClr val="E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88720" y="2651760"/>
            <a:ext cx="6080760" cy="2331720"/>
          </a:xfrm>
          <a:custGeom>
            <a:avLst/>
            <a:gdLst/>
            <a:ahLst/>
            <a:cxnLst/>
            <a:rect l="l" t="t" r="r" b="b"/>
            <a:pathLst>
              <a:path w="6080760" h="2331720">
                <a:moveTo>
                  <a:pt x="0" y="2020824"/>
                </a:moveTo>
                <a:lnTo>
                  <a:pt x="55279" y="2013215"/>
                </a:lnTo>
                <a:lnTo>
                  <a:pt x="110559" y="1991136"/>
                </a:lnTo>
                <a:lnTo>
                  <a:pt x="165838" y="1956746"/>
                </a:lnTo>
                <a:lnTo>
                  <a:pt x="221118" y="1913412"/>
                </a:lnTo>
                <a:lnTo>
                  <a:pt x="276398" y="1865376"/>
                </a:lnTo>
                <a:lnTo>
                  <a:pt x="331677" y="1817339"/>
                </a:lnTo>
                <a:lnTo>
                  <a:pt x="386957" y="1774005"/>
                </a:lnTo>
                <a:lnTo>
                  <a:pt x="442237" y="1739615"/>
                </a:lnTo>
                <a:lnTo>
                  <a:pt x="497516" y="1717536"/>
                </a:lnTo>
                <a:lnTo>
                  <a:pt x="552796" y="1709928"/>
                </a:lnTo>
                <a:lnTo>
                  <a:pt x="608076" y="1689385"/>
                </a:lnTo>
                <a:lnTo>
                  <a:pt x="663355" y="1629770"/>
                </a:lnTo>
                <a:lnTo>
                  <a:pt x="718635" y="1536917"/>
                </a:lnTo>
                <a:lnTo>
                  <a:pt x="773914" y="1419915"/>
                </a:lnTo>
                <a:lnTo>
                  <a:pt x="829194" y="1290218"/>
                </a:lnTo>
                <a:lnTo>
                  <a:pt x="884474" y="1160521"/>
                </a:lnTo>
                <a:lnTo>
                  <a:pt x="939753" y="1043519"/>
                </a:lnTo>
                <a:lnTo>
                  <a:pt x="995033" y="950666"/>
                </a:lnTo>
                <a:lnTo>
                  <a:pt x="1050313" y="891050"/>
                </a:lnTo>
                <a:lnTo>
                  <a:pt x="1105592" y="870508"/>
                </a:lnTo>
                <a:lnTo>
                  <a:pt x="1160872" y="849205"/>
                </a:lnTo>
                <a:lnTo>
                  <a:pt x="1216152" y="787382"/>
                </a:lnTo>
                <a:lnTo>
                  <a:pt x="1271431" y="691090"/>
                </a:lnTo>
                <a:lnTo>
                  <a:pt x="1326711" y="569755"/>
                </a:lnTo>
                <a:lnTo>
                  <a:pt x="1381990" y="435254"/>
                </a:lnTo>
                <a:lnTo>
                  <a:pt x="1437270" y="300753"/>
                </a:lnTo>
                <a:lnTo>
                  <a:pt x="1492550" y="179418"/>
                </a:lnTo>
                <a:lnTo>
                  <a:pt x="1547829" y="83126"/>
                </a:lnTo>
                <a:lnTo>
                  <a:pt x="1603109" y="21302"/>
                </a:lnTo>
                <a:lnTo>
                  <a:pt x="1658389" y="0"/>
                </a:lnTo>
                <a:lnTo>
                  <a:pt x="1713668" y="44127"/>
                </a:lnTo>
                <a:lnTo>
                  <a:pt x="1768948" y="172189"/>
                </a:lnTo>
                <a:lnTo>
                  <a:pt x="1824228" y="371652"/>
                </a:lnTo>
                <a:lnTo>
                  <a:pt x="1879507" y="622989"/>
                </a:lnTo>
                <a:lnTo>
                  <a:pt x="1934787" y="901598"/>
                </a:lnTo>
                <a:lnTo>
                  <a:pt x="1990066" y="1180207"/>
                </a:lnTo>
                <a:lnTo>
                  <a:pt x="2045346" y="1431544"/>
                </a:lnTo>
                <a:lnTo>
                  <a:pt x="2100626" y="1631006"/>
                </a:lnTo>
                <a:lnTo>
                  <a:pt x="2155905" y="1759069"/>
                </a:lnTo>
                <a:lnTo>
                  <a:pt x="2211185" y="1803196"/>
                </a:lnTo>
                <a:lnTo>
                  <a:pt x="2266465" y="1812326"/>
                </a:lnTo>
                <a:lnTo>
                  <a:pt x="2321744" y="1838822"/>
                </a:lnTo>
                <a:lnTo>
                  <a:pt x="2377024" y="1880090"/>
                </a:lnTo>
                <a:lnTo>
                  <a:pt x="2432304" y="1932091"/>
                </a:lnTo>
                <a:lnTo>
                  <a:pt x="2487583" y="1989734"/>
                </a:lnTo>
                <a:lnTo>
                  <a:pt x="2542863" y="2047377"/>
                </a:lnTo>
                <a:lnTo>
                  <a:pt x="2598142" y="2099378"/>
                </a:lnTo>
                <a:lnTo>
                  <a:pt x="2653422" y="2140646"/>
                </a:lnTo>
                <a:lnTo>
                  <a:pt x="2708702" y="2167142"/>
                </a:lnTo>
                <a:lnTo>
                  <a:pt x="2763981" y="2176272"/>
                </a:lnTo>
                <a:lnTo>
                  <a:pt x="2819261" y="2178554"/>
                </a:lnTo>
                <a:lnTo>
                  <a:pt x="2874541" y="2185178"/>
                </a:lnTo>
                <a:lnTo>
                  <a:pt x="2929820" y="2195495"/>
                </a:lnTo>
                <a:lnTo>
                  <a:pt x="2985100" y="2208495"/>
                </a:lnTo>
                <a:lnTo>
                  <a:pt x="3040380" y="2222906"/>
                </a:lnTo>
                <a:lnTo>
                  <a:pt x="3095659" y="2237317"/>
                </a:lnTo>
                <a:lnTo>
                  <a:pt x="3150939" y="2250317"/>
                </a:lnTo>
                <a:lnTo>
                  <a:pt x="3206218" y="2260634"/>
                </a:lnTo>
                <a:lnTo>
                  <a:pt x="3261498" y="2267258"/>
                </a:lnTo>
                <a:lnTo>
                  <a:pt x="3316778" y="2269540"/>
                </a:lnTo>
                <a:lnTo>
                  <a:pt x="3372057" y="2271062"/>
                </a:lnTo>
                <a:lnTo>
                  <a:pt x="3427337" y="2275478"/>
                </a:lnTo>
                <a:lnTo>
                  <a:pt x="3482617" y="2282356"/>
                </a:lnTo>
                <a:lnTo>
                  <a:pt x="3537896" y="2291023"/>
                </a:lnTo>
                <a:lnTo>
                  <a:pt x="3593176" y="2300630"/>
                </a:lnTo>
                <a:lnTo>
                  <a:pt x="3648456" y="2310237"/>
                </a:lnTo>
                <a:lnTo>
                  <a:pt x="3703735" y="2318904"/>
                </a:lnTo>
                <a:lnTo>
                  <a:pt x="3759015" y="2325782"/>
                </a:lnTo>
                <a:lnTo>
                  <a:pt x="3814294" y="2330198"/>
                </a:lnTo>
                <a:lnTo>
                  <a:pt x="3869574" y="2331720"/>
                </a:lnTo>
                <a:lnTo>
                  <a:pt x="3924854" y="2327915"/>
                </a:lnTo>
                <a:lnTo>
                  <a:pt x="3980133" y="2316876"/>
                </a:lnTo>
                <a:lnTo>
                  <a:pt x="4035413" y="2299681"/>
                </a:lnTo>
                <a:lnTo>
                  <a:pt x="4090693" y="2278014"/>
                </a:lnTo>
                <a:lnTo>
                  <a:pt x="4145972" y="2253996"/>
                </a:lnTo>
                <a:lnTo>
                  <a:pt x="4201252" y="2229977"/>
                </a:lnTo>
                <a:lnTo>
                  <a:pt x="4256532" y="2208310"/>
                </a:lnTo>
                <a:lnTo>
                  <a:pt x="4311811" y="2191115"/>
                </a:lnTo>
                <a:lnTo>
                  <a:pt x="4367091" y="2180076"/>
                </a:lnTo>
                <a:lnTo>
                  <a:pt x="4422370" y="2176272"/>
                </a:lnTo>
                <a:lnTo>
                  <a:pt x="4477650" y="2157251"/>
                </a:lnTo>
                <a:lnTo>
                  <a:pt x="4532930" y="2102052"/>
                </a:lnTo>
                <a:lnTo>
                  <a:pt x="4588209" y="2016077"/>
                </a:lnTo>
                <a:lnTo>
                  <a:pt x="4643489" y="1907742"/>
                </a:lnTo>
                <a:lnTo>
                  <a:pt x="4698769" y="1787652"/>
                </a:lnTo>
                <a:lnTo>
                  <a:pt x="4754048" y="1667561"/>
                </a:lnTo>
                <a:lnTo>
                  <a:pt x="4809328" y="1559226"/>
                </a:lnTo>
                <a:lnTo>
                  <a:pt x="4864608" y="1473251"/>
                </a:lnTo>
                <a:lnTo>
                  <a:pt x="4919887" y="1418052"/>
                </a:lnTo>
                <a:lnTo>
                  <a:pt x="4975167" y="1399032"/>
                </a:lnTo>
                <a:lnTo>
                  <a:pt x="5030446" y="1419574"/>
                </a:lnTo>
                <a:lnTo>
                  <a:pt x="5085726" y="1479189"/>
                </a:lnTo>
                <a:lnTo>
                  <a:pt x="5141006" y="1572042"/>
                </a:lnTo>
                <a:lnTo>
                  <a:pt x="5196285" y="1689044"/>
                </a:lnTo>
                <a:lnTo>
                  <a:pt x="5251565" y="1818741"/>
                </a:lnTo>
                <a:lnTo>
                  <a:pt x="5306845" y="1948438"/>
                </a:lnTo>
                <a:lnTo>
                  <a:pt x="5362124" y="2065440"/>
                </a:lnTo>
                <a:lnTo>
                  <a:pt x="5417404" y="2158293"/>
                </a:lnTo>
                <a:lnTo>
                  <a:pt x="5472684" y="2217909"/>
                </a:lnTo>
                <a:lnTo>
                  <a:pt x="5527963" y="2238451"/>
                </a:lnTo>
                <a:lnTo>
                  <a:pt x="5583243" y="2235407"/>
                </a:lnTo>
                <a:lnTo>
                  <a:pt x="5638522" y="2226576"/>
                </a:lnTo>
                <a:lnTo>
                  <a:pt x="5693802" y="2212820"/>
                </a:lnTo>
                <a:lnTo>
                  <a:pt x="5749082" y="2195486"/>
                </a:lnTo>
                <a:lnTo>
                  <a:pt x="5804361" y="2176272"/>
                </a:lnTo>
                <a:lnTo>
                  <a:pt x="5859641" y="2157057"/>
                </a:lnTo>
                <a:lnTo>
                  <a:pt x="5914921" y="2139723"/>
                </a:lnTo>
                <a:lnTo>
                  <a:pt x="5970200" y="2125967"/>
                </a:lnTo>
                <a:lnTo>
                  <a:pt x="6025480" y="2117136"/>
                </a:lnTo>
                <a:lnTo>
                  <a:pt x="6080760" y="2114092"/>
                </a:lnTo>
              </a:path>
            </a:pathLst>
          </a:custGeom>
          <a:noFill/>
          <a:ln w="3175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188720" y="3833164"/>
            <a:ext cx="6080760" cy="0"/>
          </a:xfrm>
          <a:prstGeom prst="line">
            <a:avLst/>
          </a:prstGeom>
          <a:ln w="22225">
            <a:solidFill>
              <a:srgbClr val="5442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96309" y="2600960"/>
            <a:ext cx="101600" cy="101600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1701" y="252374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April — 6× the August 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0029" y="32735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4423E"/>
                </a:solidFill>
                <a:latin typeface="Red Hat Text"/>
              </a:rPr>
              <a:t>the surge automation absorbs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88152" y="35954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54423E"/>
                </a:solidFill>
                <a:latin typeface="Red Hat Mono"/>
              </a:rPr>
              <a:t>staffed capacity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5247" y="373075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Text"/>
              </a:rPr>
              <a:t>extension deadline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8636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1432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4229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17025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9821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J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2618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J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5414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8210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1007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3803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1783080"/>
            <a:ext cx="41148" cy="9601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47304" y="1737360"/>
            <a:ext cx="341985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DEMAND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Peak load, fixed staff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Idle capacity in August is unjustifiable; exhausted capacity in April is a headline.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2862072"/>
            <a:ext cx="41148" cy="9601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7304" y="2816352"/>
            <a:ext cx="341985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SYSTEMS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Rules locked in legacy code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Rewriting the systems of record is a decade. Wrapping them is a quarter.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3941063"/>
            <a:ext cx="41148" cy="9601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47304" y="3895343"/>
            <a:ext cx="341985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DATA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The answers are in the text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Correspondence and case notes are unstructured — what language models are built for.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5020056"/>
            <a:ext cx="41148" cy="1188720"/>
          </a:xfrm>
          <a:prstGeom prst="rect">
            <a:avLst/>
          </a:prstGeom>
          <a:solidFill>
            <a:srgbClr val="1E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47304" y="4974336"/>
            <a:ext cx="341985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THE CONSTRAINT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The data cannot leave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FTI rules rule out public endpoints. The model comes to the data — on premises, accredited cloud, or air-gapped enclave.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WORKFLOW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Where AI actually lands in the filing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Red stages ship with a human on the signature. The gray one waits for governance.</a:t>
            </a:r>
          </a:p>
        </p:txBody>
      </p:sp>
      <p:sp>
        <p:nvSpPr>
          <p:cNvPr id="6" name="Chevron 5"/>
          <p:cNvSpPr/>
          <p:nvPr/>
        </p:nvSpPr>
        <p:spPr>
          <a:xfrm>
            <a:off x="7772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Intake &amp;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Route by intent, not keyword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9" name="Chevron 8"/>
          <p:cNvSpPr/>
          <p:nvPr/>
        </p:nvSpPr>
        <p:spPr>
          <a:xfrm>
            <a:off x="26060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57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Catch gaps before a case is opened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12" name="Chevron 11"/>
          <p:cNvSpPr/>
          <p:nvPr/>
        </p:nvSpPr>
        <p:spPr>
          <a:xfrm>
            <a:off x="44348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Correspondence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Draft; a reviewer edits and signs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60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15" name="Chevron 14"/>
          <p:cNvSpPr/>
          <p:nvPr/>
        </p:nvSpPr>
        <p:spPr>
          <a:xfrm>
            <a:off x="6263640" y="2148840"/>
            <a:ext cx="1810512" cy="777240"/>
          </a:xfrm>
          <a:prstGeom prst="chevron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211"/>
                </a:solidFill>
                <a:latin typeface="Red Hat Display"/>
              </a:rPr>
              <a:t>Exam</a:t>
            </a:r>
          </a:p>
          <a:p>
            <a:pPr algn="ctr"/>
            <a:r>
              <a:rPr sz="1200" b="1">
                <a:solidFill>
                  <a:srgbClr val="1B1211"/>
                </a:solidFill>
                <a:latin typeface="Red Hat Display"/>
              </a:rPr>
              <a:t>selection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Taxpayer determinations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648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4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7E6A64"/>
                </a:solidFill>
                <a:latin typeface="Red Hat Mono"/>
              </a:rPr>
              <a:t>governance first</a:t>
            </a:r>
          </a:p>
        </p:txBody>
      </p:sp>
      <p:sp>
        <p:nvSpPr>
          <p:cNvPr id="18" name="Chevron 17"/>
          <p:cNvSpPr/>
          <p:nvPr/>
        </p:nvSpPr>
        <p:spPr>
          <a:xfrm>
            <a:off x="80924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Collections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Brief the officer before the case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936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21" name="Chevron 20"/>
          <p:cNvSpPr/>
          <p:nvPr/>
        </p:nvSpPr>
        <p:spPr>
          <a:xfrm>
            <a:off x="99212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Taxpayer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service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309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Answers carry their citation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224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41148" cy="13716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617720"/>
            <a:ext cx="500771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Start where a human already reviews the output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If a person signs the letter today, a model that drafts it changes throughput without changing accountability.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2151" y="4617720"/>
            <a:ext cx="41148" cy="13716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6743" y="4617720"/>
            <a:ext cx="500771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Automate the toil around the model, not just the model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Provisioning, patching, scaling and evidence collection are most of the work — and that problem is already solved.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WHAT TEAMS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Five outcomes, and where each one is proven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94560"/>
          <a:ext cx="106070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4297680"/>
                <a:gridCol w="82296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Outcome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Platform capability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Lab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Rung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Modernize mission-critical operations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Ansible Automation Platform, Event-Driven Ansible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05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executes judgement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Improve efficiency and accuracy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Red Hat AI Inference Server, SDG Hub + Training Hub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01, 02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information + knowledge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Unlock data-driven insights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OpenShift AI, vector retrieval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04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knowledge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Strengthen security and compliance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FIPS, Compliance Operator, TrustyAI, Sigstore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06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evidence → judgement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Build an AI-ready foundation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OpenShift AI, KServe, vLLM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03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data → information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REFERENCE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One foundation, from bare metal to the taxpayer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188720" cy="4617720"/>
          </a:xfrm>
          <a:prstGeom prst="roundRect">
            <a:avLst>
              <a:gd name="adj" fmla="val 8000"/>
            </a:avLst>
          </a:prstGeom>
          <a:solidFill>
            <a:srgbClr val="FBEAE8"/>
          </a:solidFill>
          <a:ln w="1587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11887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A30000"/>
                </a:solidFill>
                <a:latin typeface="Red Hat Mono"/>
              </a:rPr>
              <a:t>TRUST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Signed models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FIPS crypto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SELinux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Compliance Operator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TrustyAI drift + bias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Audit trail</a:t>
            </a:r>
          </a:p>
          <a:p>
            <a:pPr algn="ctr">
              <a:spcAft>
                <a:spcPts val="8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Air-gap mirroring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25735" y="1828800"/>
            <a:ext cx="1188720" cy="4617720"/>
          </a:xfrm>
          <a:prstGeom prst="roundRect">
            <a:avLst>
              <a:gd name="adj" fmla="val 8000"/>
            </a:avLst>
          </a:prstGeom>
          <a:solidFill>
            <a:srgbClr val="E7F1F5"/>
          </a:solidFill>
          <a:ln w="15875">
            <a:solidFill>
              <a:srgbClr val="286C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25735" y="1938528"/>
            <a:ext cx="11887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286C88"/>
                </a:solidFill>
                <a:latin typeface="Red Hat Mono"/>
              </a:rPr>
              <a:t>AUTOMATION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Ansible Automation Platform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Event-Driven Ansible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Provision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Patch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Remediate</a:t>
            </a:r>
          </a:p>
          <a:p>
            <a:pPr algn="ctr">
              <a:spcAft>
                <a:spcPts val="8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Evidence collection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 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828800"/>
            <a:ext cx="780257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5728" y="1874520"/>
            <a:ext cx="6705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Mission applications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Correspondence intake · Notice drafting · Case summarization · Guidance assistant</a:t>
            </a:r>
          </a:p>
        </p:txBody>
      </p:sp>
      <p:sp>
        <p:nvSpPr>
          <p:cNvPr id="11" name="Oval 10"/>
          <p:cNvSpPr/>
          <p:nvPr/>
        </p:nvSpPr>
        <p:spPr>
          <a:xfrm>
            <a:off x="2423160" y="2487168"/>
            <a:ext cx="91440" cy="91440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0" y="2487168"/>
            <a:ext cx="91440" cy="91440"/>
          </a:xfrm>
          <a:prstGeom prst="ellipse">
            <a:avLst/>
          </a:prstGeom>
          <a:solidFill>
            <a:srgbClr val="286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720840" y="2487168"/>
            <a:ext cx="91440" cy="91440"/>
          </a:xfrm>
          <a:prstGeom prst="ellipse">
            <a:avLst/>
          </a:prstGeom>
          <a:solidFill>
            <a:srgbClr val="966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69680" y="2487168"/>
            <a:ext cx="91440" cy="91440"/>
          </a:xfrm>
          <a:prstGeom prst="ellipse">
            <a:avLst/>
          </a:prstGeom>
          <a:solidFill>
            <a:srgbClr val="1E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94560" y="2907792"/>
            <a:ext cx="7802575" cy="1207008"/>
          </a:xfrm>
          <a:prstGeom prst="roundRect">
            <a:avLst>
              <a:gd name="adj" fmla="val 10000"/>
            </a:avLst>
          </a:prstGeom>
          <a:solidFill>
            <a:srgbClr val="FBEAE8"/>
          </a:solidFill>
          <a:ln w="1587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95728" y="2953512"/>
            <a:ext cx="6705295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Red Hat OpenShift AI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2695" y="2962656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Labs 02 · 03 · 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95728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Model serving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KServe + vLLM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8647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1799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Pipelines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tune · eval · promote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1567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719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Model registry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versions · approvals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4487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7639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Retrieval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vector store · citations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94560" y="4279392"/>
            <a:ext cx="7802575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95728" y="4325112"/>
            <a:ext cx="6705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Red Hat OpenShift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Scheduling · GPU partitioning · network policy · multi-site placement · GitOps delivery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94560" y="5221224"/>
            <a:ext cx="780257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95728" y="5266944"/>
            <a:ext cx="6705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Red Hat Enterprise Linux · AI Inference Server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Bare metal GPU nodes · virtualized datacenter · accredited cloud · classified enclave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2695" y="5276088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 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79815" y="5678424"/>
            <a:ext cx="548640" cy="329184"/>
          </a:xfrm>
          <a:prstGeom prst="roundRect">
            <a:avLst>
              <a:gd name="adj" fmla="val 15000"/>
            </a:avLst>
          </a:prstGeom>
          <a:solidFill>
            <a:srgbClr val="544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Red Hat Mono"/>
              </a:rPr>
              <a:t>GPU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8183" y="5678424"/>
            <a:ext cx="548640" cy="329184"/>
          </a:xfrm>
          <a:prstGeom prst="roundRect">
            <a:avLst>
              <a:gd name="adj" fmla="val 15000"/>
            </a:avLst>
          </a:prstGeom>
          <a:solidFill>
            <a:srgbClr val="544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Red Hat Mono"/>
              </a:rPr>
              <a:t>GPU</a:t>
            </a:r>
          </a:p>
        </p:txBody>
      </p:sp>
      <p:sp>
        <p:nvSpPr>
          <p:cNvPr id="33" name="Up Arrow 32"/>
          <p:cNvSpPr/>
          <p:nvPr/>
        </p:nvSpPr>
        <p:spPr>
          <a:xfrm>
            <a:off x="6013551" y="2761488"/>
            <a:ext cx="164592" cy="128016"/>
          </a:xfrm>
          <a:prstGeom prst="upArrow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013551" y="4133088"/>
            <a:ext cx="164592" cy="128016"/>
          </a:xfrm>
          <a:prstGeom prst="upArrow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Up Arrow 34"/>
          <p:cNvSpPr/>
          <p:nvPr/>
        </p:nvSpPr>
        <p:spPr>
          <a:xfrm>
            <a:off x="6013551" y="5074920"/>
            <a:ext cx="164592" cy="128016"/>
          </a:xfrm>
          <a:prstGeom prst="upArrow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ADOPTION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Ninety days, then ninety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Nothing here requires a rewrite of a system of record.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2423160"/>
            <a:ext cx="10515600" cy="0"/>
          </a:xfrm>
          <a:prstGeom prst="line">
            <a:avLst/>
          </a:prstGeom>
          <a:ln w="25400">
            <a:solidFill>
              <a:srgbClr val="CFC2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051560" y="2359152"/>
            <a:ext cx="3310128" cy="128016"/>
          </a:xfrm>
          <a:prstGeom prst="roundRect">
            <a:avLst>
              <a:gd name="adj" fmla="val 50000"/>
            </a:avLst>
          </a:prstGeom>
          <a:solidFill>
            <a:srgbClr val="286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3310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86C88"/>
                </a:solidFill>
                <a:latin typeface="Red Hat Mono"/>
              </a:rPr>
              <a:t>PROVE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8848" y="2359152"/>
            <a:ext cx="3310128" cy="128016"/>
          </a:xfrm>
          <a:prstGeom prst="roundRect">
            <a:avLst>
              <a:gd name="adj" fmla="val 50000"/>
            </a:avLst>
          </a:prstGeom>
          <a:solidFill>
            <a:srgbClr val="966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1965960"/>
            <a:ext cx="3310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96620A"/>
                </a:solidFill>
                <a:latin typeface="Red Hat Mono"/>
              </a:rPr>
              <a:t>GROUND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46136" y="2359152"/>
            <a:ext cx="3310128" cy="12801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46136" y="1965960"/>
            <a:ext cx="3310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CC0000"/>
                </a:solidFill>
                <a:latin typeface="Red Hat Mono"/>
              </a:rPr>
              <a:t>SCALE</a:t>
            </a:r>
          </a:p>
        </p:txBody>
      </p:sp>
      <p:sp>
        <p:nvSpPr>
          <p:cNvPr id="13" name="Oval 12"/>
          <p:cNvSpPr/>
          <p:nvPr/>
        </p:nvSpPr>
        <p:spPr>
          <a:xfrm>
            <a:off x="987552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0</a:t>
            </a:r>
          </a:p>
        </p:txBody>
      </p:sp>
      <p:sp>
        <p:nvSpPr>
          <p:cNvPr id="15" name="Oval 14"/>
          <p:cNvSpPr/>
          <p:nvPr/>
        </p:nvSpPr>
        <p:spPr>
          <a:xfrm>
            <a:off x="4434840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5928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90</a:t>
            </a:r>
          </a:p>
        </p:txBody>
      </p:sp>
      <p:sp>
        <p:nvSpPr>
          <p:cNvPr id="17" name="Oval 16"/>
          <p:cNvSpPr/>
          <p:nvPr/>
        </p:nvSpPr>
        <p:spPr>
          <a:xfrm>
            <a:off x="7882128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43216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180</a:t>
            </a:r>
          </a:p>
        </p:txBody>
      </p:sp>
      <p:sp>
        <p:nvSpPr>
          <p:cNvPr id="19" name="Oval 18"/>
          <p:cNvSpPr/>
          <p:nvPr/>
        </p:nvSpPr>
        <p:spPr>
          <a:xfrm>
            <a:off x="11192256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53344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270+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54680"/>
            <a:ext cx="3447288" cy="384048"/>
          </a:xfrm>
          <a:prstGeom prst="roundRect">
            <a:avLst>
              <a:gd name="adj" fmla="val 18000"/>
            </a:avLst>
          </a:prstGeom>
          <a:solidFill>
            <a:srgbClr val="E7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191256"/>
            <a:ext cx="3172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86C88"/>
                </a:solidFill>
                <a:latin typeface="Red Hat Display"/>
              </a:rPr>
              <a:t>Prove — days 0–90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3630168"/>
            <a:ext cx="317296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One endpoint on AI Inference Server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Accelerator capacity plan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Data classes agreed in writing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One workflow with a reviewer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Baseline measured first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3154680"/>
            <a:ext cx="3447288" cy="384048"/>
          </a:xfrm>
          <a:prstGeom prst="roundRect">
            <a:avLst>
              <a:gd name="adj" fmla="val 18000"/>
            </a:avLst>
          </a:prstGeom>
          <a:solidFill>
            <a:srgbClr val="F8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3191256"/>
            <a:ext cx="3172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96620A"/>
                </a:solidFill>
                <a:latin typeface="Red Hat Display"/>
              </a:rPr>
              <a:t>Ground — days 90–180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3630168"/>
            <a:ext cx="317296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Serving on OpenShift AI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Retrieval over your guidance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Tune on agency vocabulary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Drift and compliance wired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Provisioning automated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64424" y="3154680"/>
            <a:ext cx="3447288" cy="384048"/>
          </a:xfrm>
          <a:prstGeom prst="roundRect">
            <a:avLst>
              <a:gd name="adj" fmla="val 18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0728" y="3191256"/>
            <a:ext cx="3172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A30000"/>
                </a:solidFill>
                <a:latin typeface="Red Hat Display"/>
              </a:rPr>
              <a:t>Scale — days 180+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3630168"/>
            <a:ext cx="317296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Registry with real approvals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Workflows two to five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Filing-season rehearsal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Extend to the enclave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Report in mission terms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What happens after this hour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240280"/>
            <a:ext cx="41148" cy="173736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40280"/>
            <a:ext cx="318607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Architecture workshop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Half a day with your platform and security teams to size accelerators, place the first workload and name the data classes in scope.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20514" y="2240280"/>
            <a:ext cx="41148" cy="173736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5106" y="2240280"/>
            <a:ext cx="318607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Guided pilot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One workflow, on your infrastructure, with a measured baseline and an agreed definition of success before we start.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3788" y="2240280"/>
            <a:ext cx="41148" cy="173736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8380" y="2240280"/>
            <a:ext cx="318607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Acquisition path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Four Inc. and Carahsoft carry the vehicles and pricing. Bring them into the conversation early, not at the 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B1211"/>
                </a:solidFill>
                <a:latin typeface="Red Hat Display"/>
              </a:rPr>
              <a:t>One thing to remember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Nothing in these seven labs required a public model endpoint, an internet connection at inference time, or a rewrite of a system of record. That is the whole argument.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HANDS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Seven labs — real commands, run them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Simulate mode needs no cluster, no GPU and no credentials. The Demo view plays them hands-free.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94560"/>
          <a:ext cx="106070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480560"/>
                <a:gridCol w="2743200"/>
                <a:gridCol w="25603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Lab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What you do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Product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Rung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01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Serve a model inside your boundary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AI Inference Server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data → information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02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Teach it your notice taxonomy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SDG Hub + Training Hub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knowledge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03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Survive filing season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OpenShift 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information at scale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04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Ground answers in your own guidance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Retrieval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knowledge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05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Automate the toil around the model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Ansible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executes judgement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06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Prove it to your ISSO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Compliance, TrustyAI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evidence → judgement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07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Ask your own logs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Ops notebook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information → knowledge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APPENDIX · TRUSTED, ENTERPRISE-READY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The questions an authorizing official will ask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070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39496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Their question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The platform control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Where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Where does our data go?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Nowhere. Inference runs on your cluster, your accelerators.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AI Inference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Is this the model we approved?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Artifacts signed and verified before admission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Sigstore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Is the cryptography validated?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FIPS mode is a supported operating state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RHEL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Still compliant next quarter?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Scheduled scans, machine-readable results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Compliance Op.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How do we detect drift?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Drift and fairness metrics on live traffic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TrustyAI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What if we are air-gapped?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Mirror images and models into the enclave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oc-mirror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Who is accountable?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 named reviewer. The model drafts; it never sends.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Workflow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