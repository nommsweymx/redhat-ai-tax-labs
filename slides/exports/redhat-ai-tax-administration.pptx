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room: Red Hat, Four Inc. and Carahsoft. Frame the hour - 25 minutes of story, 30 minutes of live terminal, 5 for questions. The promise: every claim we make today, we run in a shell before you leave.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technology. Lead with the shape of the problem: seasonal demand against a fixed workforce, decades of correspondence logic locked in code nobody wants to touch, and data spread across systems never designed to talk. AI is interesting here because it works on unstructured language - which is most of what a tax agency handles.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top to bottom. The 'yes' rows already have a human reviewer in the loop, which makes them honest places to start. Exam selection is deliberately excluded: that is a determination affecting a taxpayer and needs a much heavier governance conversation. Saying this unprompted buys enormous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event abstract made concrete. Each names the product that delivers it and the lab where the audience runs it. Do not linger - this slide exists so people can map the rest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 to top. The point is the two vertical concerns: automation and trust are not a layer you add at the end. A project that treats compliance as a phase after deployment discovers, at the worst possible moment, that it cannot produce evidence for anything that already happened.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unblocks the deal. Every row is a control the platform provides, mapped to the question an authorizing official actually asks. Expect interruptions here - let them happen, this is the conversation you want. Offer to take the table offline with their ISSO.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sequencing. Most agencies stall on rows 2 and 3 of the Prove phase - no accelerator capacity plan, and no written agreement on which data may be used. Neither is technical. Ask the room directly which phase they are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Switch to a terminal now. Tell them the labs run in simulate mode on a laptop with no cluster, and in live mode against their own environment - same script, same commands. Run Lab 01 and stop hard on step 4, the endpoint bound to 127.0.0.1.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ask, not a thank-you. The architecture workshop is the natural next step. Then hand off to Four Inc. and Carahsoft for the contract vehicle conversation.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874519"/>
            <a:ext cx="10241280" cy="310896"/>
          </a:xfrm>
          <a:prstGeom prst="rect">
            <a:avLst/>
          </a:prstGeom>
          <a:noFill/>
        </p:spPr>
        <p:txBody>
          <a:bodyPr wrap="square">
            <a:spAutoFit/>
          </a:bodyPr>
          <a:lstStyle/>
          <a:p>
            <a:pPr algn="l">
              <a:spcAft>
                <a:spcPts val="0"/>
              </a:spcAft>
            </a:pPr>
            <a:r>
              <a:rPr sz="1200" b="1">
                <a:solidFill>
                  <a:srgbClr val="CC0000"/>
                </a:solidFill>
                <a:latin typeface="Red Hat Mono"/>
              </a:rPr>
              <a:t>RED HAT  ·  FOUR INC.  ·  CARAHSOFT — VIRTUAL EVENT</a:t>
            </a:r>
          </a:p>
        </p:txBody>
      </p:sp>
      <p:sp>
        <p:nvSpPr>
          <p:cNvPr id="4" name="TextBox 3"/>
          <p:cNvSpPr txBox="1"/>
          <p:nvPr/>
        </p:nvSpPr>
        <p:spPr>
          <a:xfrm>
            <a:off x="777240" y="2331720"/>
            <a:ext cx="9692640" cy="1828800"/>
          </a:xfrm>
          <a:prstGeom prst="rect">
            <a:avLst/>
          </a:prstGeom>
          <a:noFill/>
        </p:spPr>
        <p:txBody>
          <a:bodyPr wrap="square">
            <a:spAutoFit/>
          </a:bodyPr>
          <a:lstStyle/>
          <a:p>
            <a:pPr algn="l">
              <a:spcAft>
                <a:spcPts val="0"/>
              </a:spcAft>
            </a:pPr>
            <a:r>
              <a:rPr sz="4400" b="1">
                <a:solidFill>
                  <a:srgbClr val="1B1211"/>
                </a:solidFill>
                <a:latin typeface="Red Hat Display"/>
              </a:rPr>
              <a:t>Turning AI strategy into tax administration outcomes</a:t>
            </a:r>
          </a:p>
        </p:txBody>
      </p:sp>
      <p:sp>
        <p:nvSpPr>
          <p:cNvPr id="5" name="TextBox 4"/>
          <p:cNvSpPr txBox="1"/>
          <p:nvPr/>
        </p:nvSpPr>
        <p:spPr>
          <a:xfrm>
            <a:off x="777240" y="4343400"/>
            <a:ext cx="8595360" cy="1005840"/>
          </a:xfrm>
          <a:prstGeom prst="rect">
            <a:avLst/>
          </a:prstGeom>
          <a:noFill/>
        </p:spPr>
        <p:txBody>
          <a:bodyPr wrap="square">
            <a:spAutoFit/>
          </a:bodyPr>
          <a:lstStyle/>
          <a:p>
            <a:pPr algn="l">
              <a:spcAft>
                <a:spcPts val="0"/>
              </a:spcAft>
            </a:pPr>
            <a:r>
              <a:rPr sz="1700" b="0">
                <a:solidFill>
                  <a:srgbClr val="54423E"/>
                </a:solidFill>
                <a:latin typeface="Red Hat Text"/>
              </a:rPr>
              <a:t>A secure, flexible foundation that connects automation, hybrid cloud and intelligent workflows — then six labs where you run it yourself.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THE OPERATING REALITY</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The work is seasonal, textual and unforgiving</a:t>
            </a:r>
          </a:p>
        </p:txBody>
      </p:sp>
      <p:sp>
        <p:nvSpPr>
          <p:cNvPr id="5" name="Rectangle 4"/>
          <p:cNvSpPr/>
          <p:nvPr/>
        </p:nvSpPr>
        <p:spPr>
          <a:xfrm>
            <a:off x="777240" y="233172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233172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Peak load, fixed staff</a:t>
            </a:r>
          </a:p>
          <a:p>
            <a:pPr algn="l">
              <a:spcAft>
                <a:spcPts val="0"/>
              </a:spcAft>
            </a:pPr>
            <a:r>
              <a:rPr sz="1200" b="0">
                <a:solidFill>
                  <a:srgbClr val="54423E"/>
                </a:solidFill>
                <a:latin typeface="Red Hat Text"/>
              </a:rPr>
              <a:t>Filing season concentrates a year of volume into weeks. Idle capacity in August cannot be justified; exhausted capacity in April becomes a headline.</a:t>
            </a:r>
          </a:p>
        </p:txBody>
      </p:sp>
      <p:sp>
        <p:nvSpPr>
          <p:cNvPr id="7" name="Rectangle 6"/>
          <p:cNvSpPr/>
          <p:nvPr/>
        </p:nvSpPr>
        <p:spPr>
          <a:xfrm>
            <a:off x="4420514" y="233172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5106" y="233172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Rules locked in legacy code</a:t>
            </a:r>
          </a:p>
          <a:p>
            <a:pPr algn="l">
              <a:spcAft>
                <a:spcPts val="0"/>
              </a:spcAft>
            </a:pPr>
            <a:r>
              <a:rPr sz="1200" b="0">
                <a:solidFill>
                  <a:srgbClr val="54423E"/>
                </a:solidFill>
                <a:latin typeface="Red Hat Text"/>
              </a:rPr>
              <a:t>Notice, eligibility and offset logic live in systems written decades ago. Rewriting them is a decade. Wrapping them is a quarter.</a:t>
            </a:r>
          </a:p>
        </p:txBody>
      </p:sp>
      <p:sp>
        <p:nvSpPr>
          <p:cNvPr id="9" name="Rectangle 8"/>
          <p:cNvSpPr/>
          <p:nvPr/>
        </p:nvSpPr>
        <p:spPr>
          <a:xfrm>
            <a:off x="8063788" y="233172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8380" y="233172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Answers are in the text</a:t>
            </a:r>
          </a:p>
          <a:p>
            <a:pPr algn="l">
              <a:spcAft>
                <a:spcPts val="0"/>
              </a:spcAft>
            </a:pPr>
            <a:r>
              <a:rPr sz="1200" b="0">
                <a:solidFill>
                  <a:srgbClr val="54423E"/>
                </a:solidFill>
                <a:latin typeface="Red Hat Text"/>
              </a:rPr>
              <a:t>Correspondence, transcripts and guidance are unstructured. Analytics never reached them; language models are built for them.</a:t>
            </a:r>
          </a:p>
        </p:txBody>
      </p:sp>
      <p:sp>
        <p:nvSpPr>
          <p:cNvPr id="11" name="TextBox 10"/>
          <p:cNvSpPr txBox="1"/>
          <p:nvPr/>
        </p:nvSpPr>
        <p:spPr>
          <a:xfrm>
            <a:off x="777240" y="4572000"/>
            <a:ext cx="10515600" cy="1280160"/>
          </a:xfrm>
          <a:prstGeom prst="rect">
            <a:avLst/>
          </a:prstGeom>
          <a:noFill/>
        </p:spPr>
        <p:txBody>
          <a:bodyPr wrap="square">
            <a:spAutoFit/>
          </a:bodyPr>
          <a:lstStyle/>
          <a:p>
            <a:pPr algn="l">
              <a:spcAft>
                <a:spcPts val="800"/>
              </a:spcAft>
            </a:pPr>
            <a:r>
              <a:rPr sz="1700" b="1">
                <a:solidFill>
                  <a:srgbClr val="1B1211"/>
                </a:solidFill>
                <a:latin typeface="Red Hat Display"/>
              </a:rPr>
              <a:t>The constraint that decides the architecture</a:t>
            </a:r>
          </a:p>
          <a:p>
            <a:pPr algn="l">
              <a:spcAft>
                <a:spcPts val="0"/>
              </a:spcAft>
            </a:pPr>
            <a:r>
              <a:rPr sz="1400" b="0">
                <a:solidFill>
                  <a:srgbClr val="54423E"/>
                </a:solidFill>
                <a:latin typeface="Red Hat Text"/>
              </a:rPr>
              <a:t>Federal tax information carries handling rules that rule out sending prompts to a public endpoint. The model has to come to the data — on premises, in an accredited cloud region, or in an air-gapped enclave.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WORKFLOW MAP</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Where AI actually lands in the filing lifecycle</a:t>
            </a:r>
          </a:p>
        </p:txBody>
      </p:sp>
      <p:sp>
        <p:nvSpPr>
          <p:cNvPr id="5" name="TextBox 4"/>
          <p:cNvSpPr txBox="1"/>
          <p:nvPr/>
        </p:nvSpPr>
        <p:spPr>
          <a:xfrm>
            <a:off x="777240" y="1874519"/>
            <a:ext cx="8778240" cy="640080"/>
          </a:xfrm>
          <a:prstGeom prst="rect">
            <a:avLst/>
          </a:prstGeom>
          <a:noFill/>
        </p:spPr>
        <p:txBody>
          <a:bodyPr wrap="square">
            <a:spAutoFit/>
          </a:bodyPr>
          <a:lstStyle/>
          <a:p>
            <a:pPr algn="l">
              <a:spcAft>
                <a:spcPts val="0"/>
              </a:spcAft>
            </a:pPr>
            <a:r>
              <a:rPr sz="1500" b="0">
                <a:solidFill>
                  <a:srgbClr val="54423E"/>
                </a:solidFill>
                <a:latin typeface="Red Hat Text"/>
              </a:rPr>
              <a:t>Start where a human already reviews the output.</a:t>
            </a:r>
          </a:p>
        </p:txBody>
      </p:sp>
      <p:graphicFrame>
        <p:nvGraphicFramePr>
          <p:cNvPr id="6" name="Table 5"/>
          <p:cNvGraphicFramePr>
            <a:graphicFrameLocks noGrp="1"/>
          </p:cNvGraphicFramePr>
          <p:nvPr/>
        </p:nvGraphicFramePr>
        <p:xfrm>
          <a:off x="777240" y="2514600"/>
          <a:ext cx="10607040" cy="2304288"/>
        </p:xfrm>
        <a:graphic>
          <a:graphicData uri="http://schemas.openxmlformats.org/drawingml/2006/table">
            <a:tbl>
              <a:tblPr firstRow="1" bandRow="1">
                <a:tableStyleId>{5C22544A-7EE6-4342-B048-85BDC9FD1C3A}</a:tableStyleId>
              </a:tblPr>
              <a:tblGrid>
                <a:gridCol w="3017520"/>
                <a:gridCol w="5120640"/>
                <a:gridCol w="2468880"/>
              </a:tblGrid>
              <a:tr h="329184">
                <a:tc>
                  <a:txBody>
                    <a:bodyPr wrap="square"/>
                    <a:lstStyle/>
                    <a:p>
                      <a:r>
                        <a:rPr sz="1050" b="1">
                          <a:solidFill>
                            <a:srgbClr val="8A7671"/>
                          </a:solidFill>
                          <a:latin typeface="Red Hat Mono"/>
                        </a:rPr>
                        <a:t>Stage</a:t>
                      </a:r>
                    </a:p>
                  </a:txBody>
                  <a:tcPr marL="109728" marR="109728" marT="45720" marB="45720">
                    <a:solidFill>
                      <a:srgbClr val="F4EFED"/>
                    </a:solidFill>
                  </a:tcPr>
                </a:tc>
                <a:tc>
                  <a:txBody>
                    <a:bodyPr wrap="square"/>
                    <a:lstStyle/>
                    <a:p>
                      <a:r>
                        <a:rPr sz="1050" b="1">
                          <a:solidFill>
                            <a:srgbClr val="8A7671"/>
                          </a:solidFill>
                          <a:latin typeface="Red Hat Mono"/>
                        </a:rPr>
                        <a:t>Work</a:t>
                      </a:r>
                    </a:p>
                  </a:txBody>
                  <a:tcPr marL="109728" marR="109728" marT="45720" marB="45720">
                    <a:solidFill>
                      <a:srgbClr val="F4EFED"/>
                    </a:solidFill>
                  </a:tcPr>
                </a:tc>
                <a:tc>
                  <a:txBody>
                    <a:bodyPr wrap="square"/>
                    <a:lstStyle/>
                    <a:p>
                      <a:r>
                        <a:rPr sz="1050" b="1">
                          <a:solidFill>
                            <a:srgbClr val="8A7671"/>
                          </a:solidFill>
                          <a:latin typeface="Red Hat Mono"/>
                        </a:rPr>
                        <a:t>Good first candidate?</a:t>
                      </a:r>
                    </a:p>
                  </a:txBody>
                  <a:tcPr marL="109728" marR="109728" marT="45720" marB="45720">
                    <a:solidFill>
                      <a:srgbClr val="F4EFED"/>
                    </a:solidFill>
                  </a:tcPr>
                </a:tc>
              </a:tr>
              <a:tr h="329184">
                <a:tc>
                  <a:txBody>
                    <a:bodyPr wrap="square"/>
                    <a:lstStyle/>
                    <a:p>
                      <a:r>
                        <a:rPr sz="1200" b="0">
                          <a:solidFill>
                            <a:srgbClr val="1B1211"/>
                          </a:solidFill>
                          <a:latin typeface="Red Hat Text"/>
                        </a:rPr>
                        <a:t>Intake and classification</a:t>
                      </a:r>
                    </a:p>
                  </a:txBody>
                  <a:tcPr marL="109728" marR="109728" marT="45720" marB="45720">
                    <a:solidFill>
                      <a:srgbClr val="FBF9F8"/>
                    </a:solidFill>
                  </a:tcPr>
                </a:tc>
                <a:tc>
                  <a:txBody>
                    <a:bodyPr wrap="square"/>
                    <a:lstStyle/>
                    <a:p>
                      <a:r>
                        <a:rPr sz="1200" b="0">
                          <a:solidFill>
                            <a:srgbClr val="1B1211"/>
                          </a:solidFill>
                          <a:latin typeface="Red Hat Text"/>
                        </a:rPr>
                        <a:t>Route contacts by intent, not keyword</a:t>
                      </a:r>
                    </a:p>
                  </a:txBody>
                  <a:tcPr marL="109728" marR="109728" marT="45720" marB="45720">
                    <a:solidFill>
                      <a:srgbClr val="FBF9F8"/>
                    </a:solidFill>
                  </a:tcPr>
                </a:tc>
                <a:tc>
                  <a:txBody>
                    <a:bodyPr wrap="square"/>
                    <a:lstStyle/>
                    <a:p>
                      <a:r>
                        <a:rPr sz="1200" b="0">
                          <a:solidFill>
                            <a:srgbClr val="1B1211"/>
                          </a:solidFill>
                          <a:latin typeface="Red Hat Mono"/>
                        </a:rPr>
                        <a:t>Yes</a:t>
                      </a:r>
                    </a:p>
                  </a:txBody>
                  <a:tcPr marL="109728" marR="109728" marT="45720" marB="45720">
                    <a:solidFill>
                      <a:srgbClr val="FBF9F8"/>
                    </a:solidFill>
                  </a:tcPr>
                </a:tc>
              </a:tr>
              <a:tr h="329184">
                <a:tc>
                  <a:txBody>
                    <a:bodyPr wrap="square"/>
                    <a:lstStyle/>
                    <a:p>
                      <a:r>
                        <a:rPr sz="1200" b="0">
                          <a:solidFill>
                            <a:srgbClr val="1B1211"/>
                          </a:solidFill>
                          <a:latin typeface="Red Hat Text"/>
                        </a:rPr>
                        <a:t>Validation</a:t>
                      </a:r>
                    </a:p>
                  </a:txBody>
                  <a:tcPr marL="109728" marR="109728" marT="45720" marB="45720">
                    <a:solidFill>
                      <a:srgbClr val="FBF9F8"/>
                    </a:solidFill>
                  </a:tcPr>
                </a:tc>
                <a:tc>
                  <a:txBody>
                    <a:bodyPr wrap="square"/>
                    <a:lstStyle/>
                    <a:p>
                      <a:r>
                        <a:rPr sz="1200" b="0">
                          <a:solidFill>
                            <a:srgbClr val="1B1211"/>
                          </a:solidFill>
                          <a:latin typeface="Red Hat Text"/>
                        </a:rPr>
                        <a:t>Flag gaps before a case is opened</a:t>
                      </a:r>
                    </a:p>
                  </a:txBody>
                  <a:tcPr marL="109728" marR="109728" marT="45720" marB="45720">
                    <a:solidFill>
                      <a:srgbClr val="FBF9F8"/>
                    </a:solidFill>
                  </a:tcPr>
                </a:tc>
                <a:tc>
                  <a:txBody>
                    <a:bodyPr wrap="square"/>
                    <a:lstStyle/>
                    <a:p>
                      <a:r>
                        <a:rPr sz="1200" b="0">
                          <a:solidFill>
                            <a:srgbClr val="1B1211"/>
                          </a:solidFill>
                          <a:latin typeface="Red Hat Mono"/>
                        </a:rPr>
                        <a:t>Yes</a:t>
                      </a:r>
                    </a:p>
                  </a:txBody>
                  <a:tcPr marL="109728" marR="109728" marT="45720" marB="45720">
                    <a:solidFill>
                      <a:srgbClr val="FBF9F8"/>
                    </a:solidFill>
                  </a:tcPr>
                </a:tc>
              </a:tr>
              <a:tr h="329184">
                <a:tc>
                  <a:txBody>
                    <a:bodyPr wrap="square"/>
                    <a:lstStyle/>
                    <a:p>
                      <a:r>
                        <a:rPr sz="1200" b="0">
                          <a:solidFill>
                            <a:srgbClr val="1B1211"/>
                          </a:solidFill>
                          <a:latin typeface="Red Hat Text"/>
                        </a:rPr>
                        <a:t>Correspondence</a:t>
                      </a:r>
                    </a:p>
                  </a:txBody>
                  <a:tcPr marL="109728" marR="109728" marT="45720" marB="45720">
                    <a:solidFill>
                      <a:srgbClr val="FBF9F8"/>
                    </a:solidFill>
                  </a:tcPr>
                </a:tc>
                <a:tc>
                  <a:txBody>
                    <a:bodyPr wrap="square"/>
                    <a:lstStyle/>
                    <a:p>
                      <a:r>
                        <a:rPr sz="1200" b="0">
                          <a:solidFill>
                            <a:srgbClr val="1B1211"/>
                          </a:solidFill>
                          <a:latin typeface="Red Hat Text"/>
                        </a:rPr>
                        <a:t>Draft notices for a reviewer to sign</a:t>
                      </a:r>
                    </a:p>
                  </a:txBody>
                  <a:tcPr marL="109728" marR="109728" marT="45720" marB="45720">
                    <a:solidFill>
                      <a:srgbClr val="FBF9F8"/>
                    </a:solidFill>
                  </a:tcPr>
                </a:tc>
                <a:tc>
                  <a:txBody>
                    <a:bodyPr wrap="square"/>
                    <a:lstStyle/>
                    <a:p>
                      <a:r>
                        <a:rPr sz="1200" b="0">
                          <a:solidFill>
                            <a:srgbClr val="1B1211"/>
                          </a:solidFill>
                          <a:latin typeface="Red Hat Mono"/>
                        </a:rPr>
                        <a:t>Yes</a:t>
                      </a:r>
                    </a:p>
                  </a:txBody>
                  <a:tcPr marL="109728" marR="109728" marT="45720" marB="45720">
                    <a:solidFill>
                      <a:srgbClr val="FBF9F8"/>
                    </a:solidFill>
                  </a:tcPr>
                </a:tc>
              </a:tr>
              <a:tr h="329184">
                <a:tc>
                  <a:txBody>
                    <a:bodyPr wrap="square"/>
                    <a:lstStyle/>
                    <a:p>
                      <a:r>
                        <a:rPr sz="1200" b="0">
                          <a:solidFill>
                            <a:srgbClr val="1B1211"/>
                          </a:solidFill>
                          <a:latin typeface="Red Hat Text"/>
                        </a:rPr>
                        <a:t>Exam selection</a:t>
                      </a:r>
                    </a:p>
                  </a:txBody>
                  <a:tcPr marL="109728" marR="109728" marT="45720" marB="45720">
                    <a:solidFill>
                      <a:srgbClr val="FBF9F8"/>
                    </a:solidFill>
                  </a:tcPr>
                </a:tc>
                <a:tc>
                  <a:txBody>
                    <a:bodyPr wrap="square"/>
                    <a:lstStyle/>
                    <a:p>
                      <a:r>
                        <a:rPr sz="1200" b="0">
                          <a:solidFill>
                            <a:srgbClr val="1B1211"/>
                          </a:solidFill>
                          <a:latin typeface="Red Hat Text"/>
                        </a:rPr>
                        <a:t>Determinations affecting a taxpayer</a:t>
                      </a:r>
                    </a:p>
                  </a:txBody>
                  <a:tcPr marL="109728" marR="109728" marT="45720" marB="45720">
                    <a:solidFill>
                      <a:srgbClr val="FBF9F8"/>
                    </a:solidFill>
                  </a:tcPr>
                </a:tc>
                <a:tc>
                  <a:txBody>
                    <a:bodyPr wrap="square"/>
                    <a:lstStyle/>
                    <a:p>
                      <a:r>
                        <a:rPr sz="1200" b="0">
                          <a:solidFill>
                            <a:srgbClr val="1B1211"/>
                          </a:solidFill>
                          <a:latin typeface="Red Hat Mono"/>
                        </a:rPr>
                        <a:t>No — governance first</a:t>
                      </a:r>
                    </a:p>
                  </a:txBody>
                  <a:tcPr marL="109728" marR="109728" marT="45720" marB="45720">
                    <a:solidFill>
                      <a:srgbClr val="FBF9F8"/>
                    </a:solidFill>
                  </a:tcPr>
                </a:tc>
              </a:tr>
              <a:tr h="329184">
                <a:tc>
                  <a:txBody>
                    <a:bodyPr wrap="square"/>
                    <a:lstStyle/>
                    <a:p>
                      <a:r>
                        <a:rPr sz="1200" b="0">
                          <a:solidFill>
                            <a:srgbClr val="1B1211"/>
                          </a:solidFill>
                          <a:latin typeface="Red Hat Text"/>
                        </a:rPr>
                        <a:t>Collections support</a:t>
                      </a:r>
                    </a:p>
                  </a:txBody>
                  <a:tcPr marL="109728" marR="109728" marT="45720" marB="45720">
                    <a:solidFill>
                      <a:srgbClr val="FBF9F8"/>
                    </a:solidFill>
                  </a:tcPr>
                </a:tc>
                <a:tc>
                  <a:txBody>
                    <a:bodyPr wrap="square"/>
                    <a:lstStyle/>
                    <a:p>
                      <a:r>
                        <a:rPr sz="1200" b="0">
                          <a:solidFill>
                            <a:srgbClr val="1B1211"/>
                          </a:solidFill>
                          <a:latin typeface="Red Hat Text"/>
                        </a:rPr>
                        <a:t>Summarize case history for an officer</a:t>
                      </a:r>
                    </a:p>
                  </a:txBody>
                  <a:tcPr marL="109728" marR="109728" marT="45720" marB="45720">
                    <a:solidFill>
                      <a:srgbClr val="FBF9F8"/>
                    </a:solidFill>
                  </a:tcPr>
                </a:tc>
                <a:tc>
                  <a:txBody>
                    <a:bodyPr wrap="square"/>
                    <a:lstStyle/>
                    <a:p>
                      <a:r>
                        <a:rPr sz="1200" b="0">
                          <a:solidFill>
                            <a:srgbClr val="1B1211"/>
                          </a:solidFill>
                          <a:latin typeface="Red Hat Mono"/>
                        </a:rPr>
                        <a:t>Yes</a:t>
                      </a:r>
                    </a:p>
                  </a:txBody>
                  <a:tcPr marL="109728" marR="109728" marT="45720" marB="45720">
                    <a:solidFill>
                      <a:srgbClr val="FBF9F8"/>
                    </a:solidFill>
                  </a:tcPr>
                </a:tc>
              </a:tr>
              <a:tr h="329184">
                <a:tc>
                  <a:txBody>
                    <a:bodyPr wrap="square"/>
                    <a:lstStyle/>
                    <a:p>
                      <a:r>
                        <a:rPr sz="1200" b="0">
                          <a:solidFill>
                            <a:srgbClr val="1B1211"/>
                          </a:solidFill>
                          <a:latin typeface="Red Hat Text"/>
                        </a:rPr>
                        <a:t>Taxpayer service</a:t>
                      </a:r>
                    </a:p>
                  </a:txBody>
                  <a:tcPr marL="109728" marR="109728" marT="45720" marB="45720">
                    <a:solidFill>
                      <a:srgbClr val="FBF9F8"/>
                    </a:solidFill>
                  </a:tcPr>
                </a:tc>
                <a:tc>
                  <a:txBody>
                    <a:bodyPr wrap="square"/>
                    <a:lstStyle/>
                    <a:p>
                      <a:r>
                        <a:rPr sz="1200" b="0">
                          <a:solidFill>
                            <a:srgbClr val="1B1211"/>
                          </a:solidFill>
                          <a:latin typeface="Red Hat Text"/>
                        </a:rPr>
                        <a:t>Answer from guidance, with the citation</a:t>
                      </a:r>
                    </a:p>
                  </a:txBody>
                  <a:tcPr marL="109728" marR="109728" marT="45720" marB="45720">
                    <a:solidFill>
                      <a:srgbClr val="FBF9F8"/>
                    </a:solidFill>
                  </a:tcPr>
                </a:tc>
                <a:tc>
                  <a:txBody>
                    <a:bodyPr wrap="square"/>
                    <a:lstStyle/>
                    <a:p>
                      <a:r>
                        <a:rPr sz="1200" b="0">
                          <a:solidFill>
                            <a:srgbClr val="1B1211"/>
                          </a:solidFill>
                          <a:latin typeface="Red Hat Mono"/>
                        </a:rPr>
                        <a:t>Yes</a:t>
                      </a:r>
                    </a:p>
                  </a:txBody>
                  <a:tcPr marL="109728" marR="109728" marT="45720" marB="45720">
                    <a:solidFill>
                      <a:srgbClr val="FBF9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WHAT TEAMS GET</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Five outcomes, and where each one is proven</a:t>
            </a:r>
          </a:p>
        </p:txBody>
      </p:sp>
      <p:graphicFrame>
        <p:nvGraphicFramePr>
          <p:cNvPr id="5" name="Table 4"/>
          <p:cNvGraphicFramePr>
            <a:graphicFrameLocks noGrp="1"/>
          </p:cNvGraphicFramePr>
          <p:nvPr/>
        </p:nvGraphicFramePr>
        <p:xfrm>
          <a:off x="777240" y="2286000"/>
          <a:ext cx="10607040" cy="1975104"/>
        </p:xfrm>
        <a:graphic>
          <a:graphicData uri="http://schemas.openxmlformats.org/drawingml/2006/table">
            <a:tbl>
              <a:tblPr firstRow="1" bandRow="1">
                <a:tableStyleId>{5C22544A-7EE6-4342-B048-85BDC9FD1C3A}</a:tableStyleId>
              </a:tblPr>
              <a:tblGrid>
                <a:gridCol w="4206240"/>
                <a:gridCol w="5394960"/>
                <a:gridCol w="1005840"/>
              </a:tblGrid>
              <a:tr h="329184">
                <a:tc>
                  <a:txBody>
                    <a:bodyPr wrap="square"/>
                    <a:lstStyle/>
                    <a:p>
                      <a:r>
                        <a:rPr sz="1050" b="1">
                          <a:solidFill>
                            <a:srgbClr val="8A7671"/>
                          </a:solidFill>
                          <a:latin typeface="Red Hat Mono"/>
                        </a:rPr>
                        <a:t>Outcome</a:t>
                      </a:r>
                    </a:p>
                  </a:txBody>
                  <a:tcPr marL="109728" marR="109728" marT="45720" marB="45720">
                    <a:solidFill>
                      <a:srgbClr val="F4EFED"/>
                    </a:solidFill>
                  </a:tcPr>
                </a:tc>
                <a:tc>
                  <a:txBody>
                    <a:bodyPr wrap="square"/>
                    <a:lstStyle/>
                    <a:p>
                      <a:r>
                        <a:rPr sz="1050" b="1">
                          <a:solidFill>
                            <a:srgbClr val="8A7671"/>
                          </a:solidFill>
                          <a:latin typeface="Red Hat Mono"/>
                        </a:rPr>
                        <a:t>Platform capability</a:t>
                      </a:r>
                    </a:p>
                  </a:txBody>
                  <a:tcPr marL="109728" marR="109728" marT="45720" marB="45720">
                    <a:solidFill>
                      <a:srgbClr val="F4EFED"/>
                    </a:solidFill>
                  </a:tcPr>
                </a:tc>
                <a:tc>
                  <a:txBody>
                    <a:bodyPr wrap="square"/>
                    <a:lstStyle/>
                    <a:p>
                      <a:r>
                        <a:rPr sz="1050" b="1">
                          <a:solidFill>
                            <a:srgbClr val="8A7671"/>
                          </a:solidFill>
                          <a:latin typeface="Red Hat Mono"/>
                        </a:rPr>
                        <a:t>Lab</a:t>
                      </a:r>
                    </a:p>
                  </a:txBody>
                  <a:tcPr marL="109728" marR="109728" marT="45720" marB="45720">
                    <a:solidFill>
                      <a:srgbClr val="F4EFED"/>
                    </a:solidFill>
                  </a:tcPr>
                </a:tc>
              </a:tr>
              <a:tr h="329184">
                <a:tc>
                  <a:txBody>
                    <a:bodyPr wrap="square"/>
                    <a:lstStyle/>
                    <a:p>
                      <a:r>
                        <a:rPr sz="1200" b="0">
                          <a:solidFill>
                            <a:srgbClr val="1B1211"/>
                          </a:solidFill>
                          <a:latin typeface="Red Hat Text"/>
                        </a:rPr>
                        <a:t>Modernize mission-critical operations</a:t>
                      </a:r>
                    </a:p>
                  </a:txBody>
                  <a:tcPr marL="109728" marR="109728" marT="45720" marB="45720">
                    <a:solidFill>
                      <a:srgbClr val="FBF9F8"/>
                    </a:solidFill>
                  </a:tcPr>
                </a:tc>
                <a:tc>
                  <a:txBody>
                    <a:bodyPr wrap="square"/>
                    <a:lstStyle/>
                    <a:p>
                      <a:r>
                        <a:rPr sz="1200" b="0">
                          <a:solidFill>
                            <a:srgbClr val="1B1211"/>
                          </a:solidFill>
                          <a:latin typeface="Red Hat Text"/>
                        </a:rPr>
                        <a:t>Ansible Automation Platform, Event-Driven Ansible</a:t>
                      </a:r>
                    </a:p>
                  </a:txBody>
                  <a:tcPr marL="109728" marR="109728" marT="45720" marB="45720">
                    <a:solidFill>
                      <a:srgbClr val="FBF9F8"/>
                    </a:solidFill>
                  </a:tcPr>
                </a:tc>
                <a:tc>
                  <a:txBody>
                    <a:bodyPr wrap="square"/>
                    <a:lstStyle/>
                    <a:p>
                      <a:r>
                        <a:rPr sz="1200" b="0">
                          <a:solidFill>
                            <a:srgbClr val="1B1211"/>
                          </a:solidFill>
                          <a:latin typeface="Red Hat Mono"/>
                        </a:rPr>
                        <a:t>05</a:t>
                      </a:r>
                    </a:p>
                  </a:txBody>
                  <a:tcPr marL="109728" marR="109728" marT="45720" marB="45720">
                    <a:solidFill>
                      <a:srgbClr val="FBF9F8"/>
                    </a:solidFill>
                  </a:tcPr>
                </a:tc>
              </a:tr>
              <a:tr h="329184">
                <a:tc>
                  <a:txBody>
                    <a:bodyPr wrap="square"/>
                    <a:lstStyle/>
                    <a:p>
                      <a:r>
                        <a:rPr sz="1200" b="0">
                          <a:solidFill>
                            <a:srgbClr val="1B1211"/>
                          </a:solidFill>
                          <a:latin typeface="Red Hat Text"/>
                        </a:rPr>
                        <a:t>Improve efficiency and accuracy</a:t>
                      </a:r>
                    </a:p>
                  </a:txBody>
                  <a:tcPr marL="109728" marR="109728" marT="45720" marB="45720">
                    <a:solidFill>
                      <a:srgbClr val="FBF9F8"/>
                    </a:solidFill>
                  </a:tcPr>
                </a:tc>
                <a:tc>
                  <a:txBody>
                    <a:bodyPr wrap="square"/>
                    <a:lstStyle/>
                    <a:p>
                      <a:r>
                        <a:rPr sz="1200" b="0">
                          <a:solidFill>
                            <a:srgbClr val="1B1211"/>
                          </a:solidFill>
                          <a:latin typeface="Red Hat Text"/>
                        </a:rPr>
                        <a:t>Red Hat Enterprise Linux AI, InstructLab</a:t>
                      </a:r>
                    </a:p>
                  </a:txBody>
                  <a:tcPr marL="109728" marR="109728" marT="45720" marB="45720">
                    <a:solidFill>
                      <a:srgbClr val="FBF9F8"/>
                    </a:solidFill>
                  </a:tcPr>
                </a:tc>
                <a:tc>
                  <a:txBody>
                    <a:bodyPr wrap="square"/>
                    <a:lstStyle/>
                    <a:p>
                      <a:r>
                        <a:rPr sz="1200" b="0">
                          <a:solidFill>
                            <a:srgbClr val="1B1211"/>
                          </a:solidFill>
                          <a:latin typeface="Red Hat Mono"/>
                        </a:rPr>
                        <a:t>01, 02</a:t>
                      </a:r>
                    </a:p>
                  </a:txBody>
                  <a:tcPr marL="109728" marR="109728" marT="45720" marB="45720">
                    <a:solidFill>
                      <a:srgbClr val="FBF9F8"/>
                    </a:solidFill>
                  </a:tcPr>
                </a:tc>
              </a:tr>
              <a:tr h="329184">
                <a:tc>
                  <a:txBody>
                    <a:bodyPr wrap="square"/>
                    <a:lstStyle/>
                    <a:p>
                      <a:r>
                        <a:rPr sz="1200" b="0">
                          <a:solidFill>
                            <a:srgbClr val="1B1211"/>
                          </a:solidFill>
                          <a:latin typeface="Red Hat Text"/>
                        </a:rPr>
                        <a:t>Unlock data-driven insights</a:t>
                      </a:r>
                    </a:p>
                  </a:txBody>
                  <a:tcPr marL="109728" marR="109728" marT="45720" marB="45720">
                    <a:solidFill>
                      <a:srgbClr val="FBF9F8"/>
                    </a:solidFill>
                  </a:tcPr>
                </a:tc>
                <a:tc>
                  <a:txBody>
                    <a:bodyPr wrap="square"/>
                    <a:lstStyle/>
                    <a:p>
                      <a:r>
                        <a:rPr sz="1200" b="0">
                          <a:solidFill>
                            <a:srgbClr val="1B1211"/>
                          </a:solidFill>
                          <a:latin typeface="Red Hat Text"/>
                        </a:rPr>
                        <a:t>OpenShift AI, vector retrieval</a:t>
                      </a:r>
                    </a:p>
                  </a:txBody>
                  <a:tcPr marL="109728" marR="109728" marT="45720" marB="45720">
                    <a:solidFill>
                      <a:srgbClr val="FBF9F8"/>
                    </a:solidFill>
                  </a:tcPr>
                </a:tc>
                <a:tc>
                  <a:txBody>
                    <a:bodyPr wrap="square"/>
                    <a:lstStyle/>
                    <a:p>
                      <a:r>
                        <a:rPr sz="1200" b="0">
                          <a:solidFill>
                            <a:srgbClr val="1B1211"/>
                          </a:solidFill>
                          <a:latin typeface="Red Hat Mono"/>
                        </a:rPr>
                        <a:t>04</a:t>
                      </a:r>
                    </a:p>
                  </a:txBody>
                  <a:tcPr marL="109728" marR="109728" marT="45720" marB="45720">
                    <a:solidFill>
                      <a:srgbClr val="FBF9F8"/>
                    </a:solidFill>
                  </a:tcPr>
                </a:tc>
              </a:tr>
              <a:tr h="329184">
                <a:tc>
                  <a:txBody>
                    <a:bodyPr wrap="square"/>
                    <a:lstStyle/>
                    <a:p>
                      <a:r>
                        <a:rPr sz="1200" b="0">
                          <a:solidFill>
                            <a:srgbClr val="1B1211"/>
                          </a:solidFill>
                          <a:latin typeface="Red Hat Text"/>
                        </a:rPr>
                        <a:t>Strengthen security and compliance</a:t>
                      </a:r>
                    </a:p>
                  </a:txBody>
                  <a:tcPr marL="109728" marR="109728" marT="45720" marB="45720">
                    <a:solidFill>
                      <a:srgbClr val="FBF9F8"/>
                    </a:solidFill>
                  </a:tcPr>
                </a:tc>
                <a:tc>
                  <a:txBody>
                    <a:bodyPr wrap="square"/>
                    <a:lstStyle/>
                    <a:p>
                      <a:r>
                        <a:rPr sz="1200" b="0">
                          <a:solidFill>
                            <a:srgbClr val="1B1211"/>
                          </a:solidFill>
                          <a:latin typeface="Red Hat Text"/>
                        </a:rPr>
                        <a:t>FIPS, Compliance Operator, TrustyAI, Sigstore</a:t>
                      </a:r>
                    </a:p>
                  </a:txBody>
                  <a:tcPr marL="109728" marR="109728" marT="45720" marB="45720">
                    <a:solidFill>
                      <a:srgbClr val="FBF9F8"/>
                    </a:solidFill>
                  </a:tcPr>
                </a:tc>
                <a:tc>
                  <a:txBody>
                    <a:bodyPr wrap="square"/>
                    <a:lstStyle/>
                    <a:p>
                      <a:r>
                        <a:rPr sz="1200" b="0">
                          <a:solidFill>
                            <a:srgbClr val="1B1211"/>
                          </a:solidFill>
                          <a:latin typeface="Red Hat Mono"/>
                        </a:rPr>
                        <a:t>06</a:t>
                      </a:r>
                    </a:p>
                  </a:txBody>
                  <a:tcPr marL="109728" marR="109728" marT="45720" marB="45720">
                    <a:solidFill>
                      <a:srgbClr val="FBF9F8"/>
                    </a:solidFill>
                  </a:tcPr>
                </a:tc>
              </a:tr>
              <a:tr h="329184">
                <a:tc>
                  <a:txBody>
                    <a:bodyPr wrap="square"/>
                    <a:lstStyle/>
                    <a:p>
                      <a:r>
                        <a:rPr sz="1200" b="0">
                          <a:solidFill>
                            <a:srgbClr val="1B1211"/>
                          </a:solidFill>
                          <a:latin typeface="Red Hat Text"/>
                        </a:rPr>
                        <a:t>Build an AI-ready foundation</a:t>
                      </a:r>
                    </a:p>
                  </a:txBody>
                  <a:tcPr marL="109728" marR="109728" marT="45720" marB="45720">
                    <a:solidFill>
                      <a:srgbClr val="FBF9F8"/>
                    </a:solidFill>
                  </a:tcPr>
                </a:tc>
                <a:tc>
                  <a:txBody>
                    <a:bodyPr wrap="square"/>
                    <a:lstStyle/>
                    <a:p>
                      <a:r>
                        <a:rPr sz="1200" b="0">
                          <a:solidFill>
                            <a:srgbClr val="1B1211"/>
                          </a:solidFill>
                          <a:latin typeface="Red Hat Text"/>
                        </a:rPr>
                        <a:t>OpenShift AI, KServe, vLLM</a:t>
                      </a:r>
                    </a:p>
                  </a:txBody>
                  <a:tcPr marL="109728" marR="109728" marT="45720" marB="45720">
                    <a:solidFill>
                      <a:srgbClr val="FBF9F8"/>
                    </a:solidFill>
                  </a:tcPr>
                </a:tc>
                <a:tc>
                  <a:txBody>
                    <a:bodyPr wrap="square"/>
                    <a:lstStyle/>
                    <a:p>
                      <a:r>
                        <a:rPr sz="1200" b="0">
                          <a:solidFill>
                            <a:srgbClr val="1B1211"/>
                          </a:solidFill>
                          <a:latin typeface="Red Hat Mono"/>
                        </a:rPr>
                        <a:t>03</a:t>
                      </a:r>
                    </a:p>
                  </a:txBody>
                  <a:tcPr marL="109728" marR="109728" marT="45720" marB="45720">
                    <a:solidFill>
                      <a:srgbClr val="FBF9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REFERENCE ARCHITECTURE</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One foundation, from bare metal to the taxpayer</a:t>
            </a:r>
          </a:p>
        </p:txBody>
      </p:sp>
      <p:graphicFrame>
        <p:nvGraphicFramePr>
          <p:cNvPr id="5" name="Table 4"/>
          <p:cNvGraphicFramePr>
            <a:graphicFrameLocks noGrp="1"/>
          </p:cNvGraphicFramePr>
          <p:nvPr/>
        </p:nvGraphicFramePr>
        <p:xfrm>
          <a:off x="777240" y="2286000"/>
          <a:ext cx="10607040" cy="1645920"/>
        </p:xfrm>
        <a:graphic>
          <a:graphicData uri="http://schemas.openxmlformats.org/drawingml/2006/table">
            <a:tbl>
              <a:tblPr firstRow="1" bandRow="1">
                <a:tableStyleId>{5C22544A-7EE6-4342-B048-85BDC9FD1C3A}</a:tableStyleId>
              </a:tblPr>
              <a:tblGrid>
                <a:gridCol w="3200400"/>
                <a:gridCol w="7406640"/>
              </a:tblGrid>
              <a:tr h="329184">
                <a:tc>
                  <a:txBody>
                    <a:bodyPr wrap="square"/>
                    <a:lstStyle/>
                    <a:p>
                      <a:r>
                        <a:rPr sz="1050" b="1">
                          <a:solidFill>
                            <a:srgbClr val="8A7671"/>
                          </a:solidFill>
                          <a:latin typeface="Red Hat Mono"/>
                        </a:rPr>
                        <a:t>Layer</a:t>
                      </a:r>
                    </a:p>
                  </a:txBody>
                  <a:tcPr marL="109728" marR="109728" marT="45720" marB="45720">
                    <a:solidFill>
                      <a:srgbClr val="F4EFED"/>
                    </a:solidFill>
                  </a:tcPr>
                </a:tc>
                <a:tc>
                  <a:txBody>
                    <a:bodyPr wrap="square"/>
                    <a:lstStyle/>
                    <a:p>
                      <a:r>
                        <a:rPr sz="1050" b="1">
                          <a:solidFill>
                            <a:srgbClr val="8A7671"/>
                          </a:solidFill>
                          <a:latin typeface="Red Hat Mono"/>
                        </a:rPr>
                        <a:t>What it provides</a:t>
                      </a:r>
                    </a:p>
                  </a:txBody>
                  <a:tcPr marL="109728" marR="109728" marT="45720" marB="45720">
                    <a:solidFill>
                      <a:srgbClr val="F4EFED"/>
                    </a:solidFill>
                  </a:tcPr>
                </a:tc>
              </a:tr>
              <a:tr h="329184">
                <a:tc>
                  <a:txBody>
                    <a:bodyPr wrap="square"/>
                    <a:lstStyle/>
                    <a:p>
                      <a:r>
                        <a:rPr sz="1200" b="0">
                          <a:solidFill>
                            <a:srgbClr val="1B1211"/>
                          </a:solidFill>
                          <a:latin typeface="Red Hat Text"/>
                        </a:rPr>
                        <a:t>Mission applications</a:t>
                      </a:r>
                    </a:p>
                  </a:txBody>
                  <a:tcPr marL="109728" marR="109728" marT="45720" marB="45720">
                    <a:solidFill>
                      <a:srgbClr val="FBF9F8"/>
                    </a:solidFill>
                  </a:tcPr>
                </a:tc>
                <a:tc>
                  <a:txBody>
                    <a:bodyPr wrap="square"/>
                    <a:lstStyle/>
                    <a:p>
                      <a:r>
                        <a:rPr sz="1200" b="0">
                          <a:solidFill>
                            <a:srgbClr val="1B1211"/>
                          </a:solidFill>
                          <a:latin typeface="Red Hat Text"/>
                        </a:rPr>
                        <a:t>Correspondence intake · notice drafting · case summarization · guidance assistant</a:t>
                      </a:r>
                    </a:p>
                  </a:txBody>
                  <a:tcPr marL="109728" marR="109728" marT="45720" marB="45720">
                    <a:solidFill>
                      <a:srgbClr val="FBF9F8"/>
                    </a:solidFill>
                  </a:tcPr>
                </a:tc>
              </a:tr>
              <a:tr h="329184">
                <a:tc>
                  <a:txBody>
                    <a:bodyPr wrap="square"/>
                    <a:lstStyle/>
                    <a:p>
                      <a:r>
                        <a:rPr sz="1200" b="0">
                          <a:solidFill>
                            <a:srgbClr val="1B1211"/>
                          </a:solidFill>
                          <a:latin typeface="Red Hat Text"/>
                        </a:rPr>
                        <a:t>Red Hat OpenShift AI</a:t>
                      </a:r>
                    </a:p>
                  </a:txBody>
                  <a:tcPr marL="109728" marR="109728" marT="45720" marB="45720">
                    <a:solidFill>
                      <a:srgbClr val="FBF9F8"/>
                    </a:solidFill>
                  </a:tcPr>
                </a:tc>
                <a:tc>
                  <a:txBody>
                    <a:bodyPr wrap="square"/>
                    <a:lstStyle/>
                    <a:p>
                      <a:r>
                        <a:rPr sz="1200" b="0">
                          <a:solidFill>
                            <a:srgbClr val="1B1211"/>
                          </a:solidFill>
                          <a:latin typeface="Red Hat Text"/>
                        </a:rPr>
                        <a:t>KServe + vLLM serving · tuning pipelines · model registry · retrieval</a:t>
                      </a:r>
                    </a:p>
                  </a:txBody>
                  <a:tcPr marL="109728" marR="109728" marT="45720" marB="45720">
                    <a:solidFill>
                      <a:srgbClr val="FBF9F8"/>
                    </a:solidFill>
                  </a:tcPr>
                </a:tc>
              </a:tr>
              <a:tr h="329184">
                <a:tc>
                  <a:txBody>
                    <a:bodyPr wrap="square"/>
                    <a:lstStyle/>
                    <a:p>
                      <a:r>
                        <a:rPr sz="1200" b="0">
                          <a:solidFill>
                            <a:srgbClr val="1B1211"/>
                          </a:solidFill>
                          <a:latin typeface="Red Hat Text"/>
                        </a:rPr>
                        <a:t>Red Hat OpenShift</a:t>
                      </a:r>
                    </a:p>
                  </a:txBody>
                  <a:tcPr marL="109728" marR="109728" marT="45720" marB="45720">
                    <a:solidFill>
                      <a:srgbClr val="FBF9F8"/>
                    </a:solidFill>
                  </a:tcPr>
                </a:tc>
                <a:tc>
                  <a:txBody>
                    <a:bodyPr wrap="square"/>
                    <a:lstStyle/>
                    <a:p>
                      <a:r>
                        <a:rPr sz="1200" b="0">
                          <a:solidFill>
                            <a:srgbClr val="1B1211"/>
                          </a:solidFill>
                          <a:latin typeface="Red Hat Text"/>
                        </a:rPr>
                        <a:t>Scheduling · GPU partitioning · network policy · GitOps delivery</a:t>
                      </a:r>
                    </a:p>
                  </a:txBody>
                  <a:tcPr marL="109728" marR="109728" marT="45720" marB="45720">
                    <a:solidFill>
                      <a:srgbClr val="FBF9F8"/>
                    </a:solidFill>
                  </a:tcPr>
                </a:tc>
              </a:tr>
              <a:tr h="329184">
                <a:tc>
                  <a:txBody>
                    <a:bodyPr wrap="square"/>
                    <a:lstStyle/>
                    <a:p>
                      <a:r>
                        <a:rPr sz="1200" b="0">
                          <a:solidFill>
                            <a:srgbClr val="1B1211"/>
                          </a:solidFill>
                          <a:latin typeface="Red Hat Text"/>
                        </a:rPr>
                        <a:t>RHEL / RHEL AI</a:t>
                      </a:r>
                    </a:p>
                  </a:txBody>
                  <a:tcPr marL="109728" marR="109728" marT="45720" marB="45720">
                    <a:solidFill>
                      <a:srgbClr val="FBF9F8"/>
                    </a:solidFill>
                  </a:tcPr>
                </a:tc>
                <a:tc>
                  <a:txBody>
                    <a:bodyPr wrap="square"/>
                    <a:lstStyle/>
                    <a:p>
                      <a:r>
                        <a:rPr sz="1200" b="0">
                          <a:solidFill>
                            <a:srgbClr val="1B1211"/>
                          </a:solidFill>
                          <a:latin typeface="Red Hat Text"/>
                        </a:rPr>
                        <a:t>Bare metal · virtualized · accredited cloud · classified enclave</a:t>
                      </a:r>
                    </a:p>
                  </a:txBody>
                  <a:tcPr marL="109728" marR="109728" marT="45720" marB="45720">
                    <a:solidFill>
                      <a:srgbClr val="FBF9F8"/>
                    </a:solidFill>
                  </a:tcPr>
                </a:tc>
              </a:tr>
            </a:tbl>
          </a:graphicData>
        </a:graphic>
      </p:graphicFrame>
      <p:sp>
        <p:nvSpPr>
          <p:cNvPr id="6" name="TextBox 5"/>
          <p:cNvSpPr txBox="1"/>
          <p:nvPr/>
        </p:nvSpPr>
        <p:spPr>
          <a:xfrm>
            <a:off x="777240" y="4709160"/>
            <a:ext cx="10515600" cy="1188720"/>
          </a:xfrm>
          <a:prstGeom prst="rect">
            <a:avLst/>
          </a:prstGeom>
          <a:noFill/>
        </p:spPr>
        <p:txBody>
          <a:bodyPr wrap="square">
            <a:spAutoFit/>
          </a:bodyPr>
          <a:lstStyle/>
          <a:p>
            <a:pPr algn="l">
              <a:spcAft>
                <a:spcPts val="800"/>
              </a:spcAft>
            </a:pPr>
            <a:r>
              <a:rPr sz="1600" b="1">
                <a:solidFill>
                  <a:srgbClr val="1B1211"/>
                </a:solidFill>
                <a:latin typeface="Red Hat Display"/>
              </a:rPr>
              <a:t>Running vertically through every layer</a:t>
            </a:r>
          </a:p>
          <a:p>
            <a:pPr algn="l">
              <a:spcAft>
                <a:spcPts val="400"/>
              </a:spcAft>
            </a:pPr>
            <a:r>
              <a:rPr sz="1300" b="0">
                <a:solidFill>
                  <a:srgbClr val="54423E"/>
                </a:solidFill>
                <a:latin typeface="Red Hat Text"/>
              </a:rPr>
              <a:t>Automation — Ansible Automation Platform provisions, patches, remediates and collects evidence (Lab 05)</a:t>
            </a:r>
          </a:p>
          <a:p>
            <a:pPr algn="l">
              <a:spcAft>
                <a:spcPts val="0"/>
              </a:spcAft>
            </a:pPr>
            <a:r>
              <a:rPr sz="1300" b="0">
                <a:solidFill>
                  <a:srgbClr val="54423E"/>
                </a:solidFill>
                <a:latin typeface="Red Hat Text"/>
              </a:rPr>
              <a:t>Trust — signed models, FIPS crypto, SELinux, Compliance Operator, TrustyAI, disconnected mirroring (Lab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TRUSTED, ENTERPRISE-READY AI</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The questions an authorizing official will ask</a:t>
            </a:r>
          </a:p>
        </p:txBody>
      </p:sp>
      <p:graphicFrame>
        <p:nvGraphicFramePr>
          <p:cNvPr id="5" name="Table 4"/>
          <p:cNvGraphicFramePr>
            <a:graphicFrameLocks noGrp="1"/>
          </p:cNvGraphicFramePr>
          <p:nvPr/>
        </p:nvGraphicFramePr>
        <p:xfrm>
          <a:off x="777240" y="2286000"/>
          <a:ext cx="10607040" cy="2633472"/>
        </p:xfrm>
        <a:graphic>
          <a:graphicData uri="http://schemas.openxmlformats.org/drawingml/2006/table">
            <a:tbl>
              <a:tblPr firstRow="1" bandRow="1">
                <a:tableStyleId>{5C22544A-7EE6-4342-B048-85BDC9FD1C3A}</a:tableStyleId>
              </a:tblPr>
              <a:tblGrid>
                <a:gridCol w="3291840"/>
                <a:gridCol w="5394960"/>
                <a:gridCol w="1920240"/>
              </a:tblGrid>
              <a:tr h="329184">
                <a:tc>
                  <a:txBody>
                    <a:bodyPr wrap="square"/>
                    <a:lstStyle/>
                    <a:p>
                      <a:r>
                        <a:rPr sz="1050" b="1">
                          <a:solidFill>
                            <a:srgbClr val="8A7671"/>
                          </a:solidFill>
                          <a:latin typeface="Red Hat Mono"/>
                        </a:rPr>
                        <a:t>Their question</a:t>
                      </a:r>
                    </a:p>
                  </a:txBody>
                  <a:tcPr marL="109728" marR="109728" marT="45720" marB="45720">
                    <a:solidFill>
                      <a:srgbClr val="F4EFED"/>
                    </a:solidFill>
                  </a:tcPr>
                </a:tc>
                <a:tc>
                  <a:txBody>
                    <a:bodyPr wrap="square"/>
                    <a:lstStyle/>
                    <a:p>
                      <a:r>
                        <a:rPr sz="1050" b="1">
                          <a:solidFill>
                            <a:srgbClr val="8A7671"/>
                          </a:solidFill>
                          <a:latin typeface="Red Hat Mono"/>
                        </a:rPr>
                        <a:t>The platform control</a:t>
                      </a:r>
                    </a:p>
                  </a:txBody>
                  <a:tcPr marL="109728" marR="109728" marT="45720" marB="45720">
                    <a:solidFill>
                      <a:srgbClr val="F4EFED"/>
                    </a:solidFill>
                  </a:tcPr>
                </a:tc>
                <a:tc>
                  <a:txBody>
                    <a:bodyPr wrap="square"/>
                    <a:lstStyle/>
                    <a:p>
                      <a:r>
                        <a:rPr sz="1050" b="1">
                          <a:solidFill>
                            <a:srgbClr val="8A7671"/>
                          </a:solidFill>
                          <a:latin typeface="Red Hat Mono"/>
                        </a:rPr>
                        <a:t>Where</a:t>
                      </a:r>
                    </a:p>
                  </a:txBody>
                  <a:tcPr marL="109728" marR="109728" marT="45720" marB="45720">
                    <a:solidFill>
                      <a:srgbClr val="F4EFED"/>
                    </a:solidFill>
                  </a:tcPr>
                </a:tc>
              </a:tr>
              <a:tr h="329184">
                <a:tc>
                  <a:txBody>
                    <a:bodyPr wrap="square"/>
                    <a:lstStyle/>
                    <a:p>
                      <a:r>
                        <a:rPr sz="1200" b="0">
                          <a:solidFill>
                            <a:srgbClr val="1B1211"/>
                          </a:solidFill>
                          <a:latin typeface="Red Hat Text"/>
                        </a:rPr>
                        <a:t>Where does our data go?</a:t>
                      </a:r>
                    </a:p>
                  </a:txBody>
                  <a:tcPr marL="109728" marR="109728" marT="45720" marB="45720">
                    <a:solidFill>
                      <a:srgbClr val="FBF9F8"/>
                    </a:solidFill>
                  </a:tcPr>
                </a:tc>
                <a:tc>
                  <a:txBody>
                    <a:bodyPr wrap="square"/>
                    <a:lstStyle/>
                    <a:p>
                      <a:r>
                        <a:rPr sz="1200" b="0">
                          <a:solidFill>
                            <a:srgbClr val="1B1211"/>
                          </a:solidFill>
                          <a:latin typeface="Red Hat Text"/>
                        </a:rPr>
                        <a:t>Nowhere. Inference runs on your cluster, your accelerators.</a:t>
                      </a:r>
                    </a:p>
                  </a:txBody>
                  <a:tcPr marL="109728" marR="109728" marT="45720" marB="45720">
                    <a:solidFill>
                      <a:srgbClr val="FBF9F8"/>
                    </a:solidFill>
                  </a:tcPr>
                </a:tc>
                <a:tc>
                  <a:txBody>
                    <a:bodyPr wrap="square"/>
                    <a:lstStyle/>
                    <a:p>
                      <a:r>
                        <a:rPr sz="1200" b="0">
                          <a:solidFill>
                            <a:srgbClr val="1B1211"/>
                          </a:solidFill>
                          <a:latin typeface="Red Hat Mono"/>
                        </a:rPr>
                        <a:t>RHEL AI</a:t>
                      </a:r>
                    </a:p>
                  </a:txBody>
                  <a:tcPr marL="109728" marR="109728" marT="45720" marB="45720">
                    <a:solidFill>
                      <a:srgbClr val="FBF9F8"/>
                    </a:solidFill>
                  </a:tcPr>
                </a:tc>
              </a:tr>
              <a:tr h="329184">
                <a:tc>
                  <a:txBody>
                    <a:bodyPr wrap="square"/>
                    <a:lstStyle/>
                    <a:p>
                      <a:r>
                        <a:rPr sz="1200" b="0">
                          <a:solidFill>
                            <a:srgbClr val="1B1211"/>
                          </a:solidFill>
                          <a:latin typeface="Red Hat Text"/>
                        </a:rPr>
                        <a:t>Is this the model we approved?</a:t>
                      </a:r>
                    </a:p>
                  </a:txBody>
                  <a:tcPr marL="109728" marR="109728" marT="45720" marB="45720">
                    <a:solidFill>
                      <a:srgbClr val="FBF9F8"/>
                    </a:solidFill>
                  </a:tcPr>
                </a:tc>
                <a:tc>
                  <a:txBody>
                    <a:bodyPr wrap="square"/>
                    <a:lstStyle/>
                    <a:p>
                      <a:r>
                        <a:rPr sz="1200" b="0">
                          <a:solidFill>
                            <a:srgbClr val="1B1211"/>
                          </a:solidFill>
                          <a:latin typeface="Red Hat Text"/>
                        </a:rPr>
                        <a:t>Artifacts signed and verified before admission</a:t>
                      </a:r>
                    </a:p>
                  </a:txBody>
                  <a:tcPr marL="109728" marR="109728" marT="45720" marB="45720">
                    <a:solidFill>
                      <a:srgbClr val="FBF9F8"/>
                    </a:solidFill>
                  </a:tcPr>
                </a:tc>
                <a:tc>
                  <a:txBody>
                    <a:bodyPr wrap="square"/>
                    <a:lstStyle/>
                    <a:p>
                      <a:r>
                        <a:rPr sz="1200" b="0">
                          <a:solidFill>
                            <a:srgbClr val="1B1211"/>
                          </a:solidFill>
                          <a:latin typeface="Red Hat Mono"/>
                        </a:rPr>
                        <a:t>Sigstore</a:t>
                      </a:r>
                    </a:p>
                  </a:txBody>
                  <a:tcPr marL="109728" marR="109728" marT="45720" marB="45720">
                    <a:solidFill>
                      <a:srgbClr val="FBF9F8"/>
                    </a:solidFill>
                  </a:tcPr>
                </a:tc>
              </a:tr>
              <a:tr h="329184">
                <a:tc>
                  <a:txBody>
                    <a:bodyPr wrap="square"/>
                    <a:lstStyle/>
                    <a:p>
                      <a:r>
                        <a:rPr sz="1200" b="0">
                          <a:solidFill>
                            <a:srgbClr val="1B1211"/>
                          </a:solidFill>
                          <a:latin typeface="Red Hat Text"/>
                        </a:rPr>
                        <a:t>Is the cryptography validated?</a:t>
                      </a:r>
                    </a:p>
                  </a:txBody>
                  <a:tcPr marL="109728" marR="109728" marT="45720" marB="45720">
                    <a:solidFill>
                      <a:srgbClr val="FBF9F8"/>
                    </a:solidFill>
                  </a:tcPr>
                </a:tc>
                <a:tc>
                  <a:txBody>
                    <a:bodyPr wrap="square"/>
                    <a:lstStyle/>
                    <a:p>
                      <a:r>
                        <a:rPr sz="1200" b="0">
                          <a:solidFill>
                            <a:srgbClr val="1B1211"/>
                          </a:solidFill>
                          <a:latin typeface="Red Hat Text"/>
                        </a:rPr>
                        <a:t>FIPS mode is a supported operating state</a:t>
                      </a:r>
                    </a:p>
                  </a:txBody>
                  <a:tcPr marL="109728" marR="109728" marT="45720" marB="45720">
                    <a:solidFill>
                      <a:srgbClr val="FBF9F8"/>
                    </a:solidFill>
                  </a:tcPr>
                </a:tc>
                <a:tc>
                  <a:txBody>
                    <a:bodyPr wrap="square"/>
                    <a:lstStyle/>
                    <a:p>
                      <a:r>
                        <a:rPr sz="1200" b="0">
                          <a:solidFill>
                            <a:srgbClr val="1B1211"/>
                          </a:solidFill>
                          <a:latin typeface="Red Hat Mono"/>
                        </a:rPr>
                        <a:t>RHEL</a:t>
                      </a:r>
                    </a:p>
                  </a:txBody>
                  <a:tcPr marL="109728" marR="109728" marT="45720" marB="45720">
                    <a:solidFill>
                      <a:srgbClr val="FBF9F8"/>
                    </a:solidFill>
                  </a:tcPr>
                </a:tc>
              </a:tr>
              <a:tr h="329184">
                <a:tc>
                  <a:txBody>
                    <a:bodyPr wrap="square"/>
                    <a:lstStyle/>
                    <a:p>
                      <a:r>
                        <a:rPr sz="1200" b="0">
                          <a:solidFill>
                            <a:srgbClr val="1B1211"/>
                          </a:solidFill>
                          <a:latin typeface="Red Hat Text"/>
                        </a:rPr>
                        <a:t>Still compliant next quarter?</a:t>
                      </a:r>
                    </a:p>
                  </a:txBody>
                  <a:tcPr marL="109728" marR="109728" marT="45720" marB="45720">
                    <a:solidFill>
                      <a:srgbClr val="FBF9F8"/>
                    </a:solidFill>
                  </a:tcPr>
                </a:tc>
                <a:tc>
                  <a:txBody>
                    <a:bodyPr wrap="square"/>
                    <a:lstStyle/>
                    <a:p>
                      <a:r>
                        <a:rPr sz="1200" b="0">
                          <a:solidFill>
                            <a:srgbClr val="1B1211"/>
                          </a:solidFill>
                          <a:latin typeface="Red Hat Text"/>
                        </a:rPr>
                        <a:t>Scheduled scans, machine-readable results</a:t>
                      </a:r>
                    </a:p>
                  </a:txBody>
                  <a:tcPr marL="109728" marR="109728" marT="45720" marB="45720">
                    <a:solidFill>
                      <a:srgbClr val="FBF9F8"/>
                    </a:solidFill>
                  </a:tcPr>
                </a:tc>
                <a:tc>
                  <a:txBody>
                    <a:bodyPr wrap="square"/>
                    <a:lstStyle/>
                    <a:p>
                      <a:r>
                        <a:rPr sz="1200" b="0">
                          <a:solidFill>
                            <a:srgbClr val="1B1211"/>
                          </a:solidFill>
                          <a:latin typeface="Red Hat Mono"/>
                        </a:rPr>
                        <a:t>Compliance Op.</a:t>
                      </a:r>
                    </a:p>
                  </a:txBody>
                  <a:tcPr marL="109728" marR="109728" marT="45720" marB="45720">
                    <a:solidFill>
                      <a:srgbClr val="FBF9F8"/>
                    </a:solidFill>
                  </a:tcPr>
                </a:tc>
              </a:tr>
              <a:tr h="329184">
                <a:tc>
                  <a:txBody>
                    <a:bodyPr wrap="square"/>
                    <a:lstStyle/>
                    <a:p>
                      <a:r>
                        <a:rPr sz="1200" b="0">
                          <a:solidFill>
                            <a:srgbClr val="1B1211"/>
                          </a:solidFill>
                          <a:latin typeface="Red Hat Text"/>
                        </a:rPr>
                        <a:t>How do we detect drift?</a:t>
                      </a:r>
                    </a:p>
                  </a:txBody>
                  <a:tcPr marL="109728" marR="109728" marT="45720" marB="45720">
                    <a:solidFill>
                      <a:srgbClr val="FBF9F8"/>
                    </a:solidFill>
                  </a:tcPr>
                </a:tc>
                <a:tc>
                  <a:txBody>
                    <a:bodyPr wrap="square"/>
                    <a:lstStyle/>
                    <a:p>
                      <a:r>
                        <a:rPr sz="1200" b="0">
                          <a:solidFill>
                            <a:srgbClr val="1B1211"/>
                          </a:solidFill>
                          <a:latin typeface="Red Hat Text"/>
                        </a:rPr>
                        <a:t>Drift and fairness metrics on live traffic</a:t>
                      </a:r>
                    </a:p>
                  </a:txBody>
                  <a:tcPr marL="109728" marR="109728" marT="45720" marB="45720">
                    <a:solidFill>
                      <a:srgbClr val="FBF9F8"/>
                    </a:solidFill>
                  </a:tcPr>
                </a:tc>
                <a:tc>
                  <a:txBody>
                    <a:bodyPr wrap="square"/>
                    <a:lstStyle/>
                    <a:p>
                      <a:r>
                        <a:rPr sz="1200" b="0">
                          <a:solidFill>
                            <a:srgbClr val="1B1211"/>
                          </a:solidFill>
                          <a:latin typeface="Red Hat Mono"/>
                        </a:rPr>
                        <a:t>TrustyAI</a:t>
                      </a:r>
                    </a:p>
                  </a:txBody>
                  <a:tcPr marL="109728" marR="109728" marT="45720" marB="45720">
                    <a:solidFill>
                      <a:srgbClr val="FBF9F8"/>
                    </a:solidFill>
                  </a:tcPr>
                </a:tc>
              </a:tr>
              <a:tr h="329184">
                <a:tc>
                  <a:txBody>
                    <a:bodyPr wrap="square"/>
                    <a:lstStyle/>
                    <a:p>
                      <a:r>
                        <a:rPr sz="1200" b="0">
                          <a:solidFill>
                            <a:srgbClr val="1B1211"/>
                          </a:solidFill>
                          <a:latin typeface="Red Hat Text"/>
                        </a:rPr>
                        <a:t>What if we are air-gapped?</a:t>
                      </a:r>
                    </a:p>
                  </a:txBody>
                  <a:tcPr marL="109728" marR="109728" marT="45720" marB="45720">
                    <a:solidFill>
                      <a:srgbClr val="FBF9F8"/>
                    </a:solidFill>
                  </a:tcPr>
                </a:tc>
                <a:tc>
                  <a:txBody>
                    <a:bodyPr wrap="square"/>
                    <a:lstStyle/>
                    <a:p>
                      <a:r>
                        <a:rPr sz="1200" b="0">
                          <a:solidFill>
                            <a:srgbClr val="1B1211"/>
                          </a:solidFill>
                          <a:latin typeface="Red Hat Text"/>
                        </a:rPr>
                        <a:t>Mirror images and models into the enclave</a:t>
                      </a:r>
                    </a:p>
                  </a:txBody>
                  <a:tcPr marL="109728" marR="109728" marT="45720" marB="45720">
                    <a:solidFill>
                      <a:srgbClr val="FBF9F8"/>
                    </a:solidFill>
                  </a:tcPr>
                </a:tc>
                <a:tc>
                  <a:txBody>
                    <a:bodyPr wrap="square"/>
                    <a:lstStyle/>
                    <a:p>
                      <a:r>
                        <a:rPr sz="1200" b="0">
                          <a:solidFill>
                            <a:srgbClr val="1B1211"/>
                          </a:solidFill>
                          <a:latin typeface="Red Hat Mono"/>
                        </a:rPr>
                        <a:t>oc-mirror</a:t>
                      </a:r>
                    </a:p>
                  </a:txBody>
                  <a:tcPr marL="109728" marR="109728" marT="45720" marB="45720">
                    <a:solidFill>
                      <a:srgbClr val="FBF9F8"/>
                    </a:solidFill>
                  </a:tcPr>
                </a:tc>
              </a:tr>
              <a:tr h="329184">
                <a:tc>
                  <a:txBody>
                    <a:bodyPr wrap="square"/>
                    <a:lstStyle/>
                    <a:p>
                      <a:r>
                        <a:rPr sz="1200" b="0">
                          <a:solidFill>
                            <a:srgbClr val="1B1211"/>
                          </a:solidFill>
                          <a:latin typeface="Red Hat Text"/>
                        </a:rPr>
                        <a:t>Who is accountable?</a:t>
                      </a:r>
                    </a:p>
                  </a:txBody>
                  <a:tcPr marL="109728" marR="109728" marT="45720" marB="45720">
                    <a:solidFill>
                      <a:srgbClr val="FBF9F8"/>
                    </a:solidFill>
                  </a:tcPr>
                </a:tc>
                <a:tc>
                  <a:txBody>
                    <a:bodyPr wrap="square"/>
                    <a:lstStyle/>
                    <a:p>
                      <a:r>
                        <a:rPr sz="1200" b="0">
                          <a:solidFill>
                            <a:srgbClr val="1B1211"/>
                          </a:solidFill>
                          <a:latin typeface="Red Hat Text"/>
                        </a:rPr>
                        <a:t>A named reviewer. The model drafts; it never sends.</a:t>
                      </a:r>
                    </a:p>
                  </a:txBody>
                  <a:tcPr marL="109728" marR="109728" marT="45720" marB="45720">
                    <a:solidFill>
                      <a:srgbClr val="FBF9F8"/>
                    </a:solidFill>
                  </a:tcPr>
                </a:tc>
                <a:tc>
                  <a:txBody>
                    <a:bodyPr wrap="square"/>
                    <a:lstStyle/>
                    <a:p>
                      <a:r>
                        <a:rPr sz="1200" b="0">
                          <a:solidFill>
                            <a:srgbClr val="1B1211"/>
                          </a:solidFill>
                          <a:latin typeface="Red Hat Mono"/>
                        </a:rPr>
                        <a:t>Workflow</a:t>
                      </a:r>
                    </a:p>
                  </a:txBody>
                  <a:tcPr marL="109728" marR="109728" marT="45720" marB="45720">
                    <a:solidFill>
                      <a:srgbClr val="FBF9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ADOPTION PATH</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Ninety days, then ninety more</a:t>
            </a:r>
          </a:p>
        </p:txBody>
      </p:sp>
      <p:sp>
        <p:nvSpPr>
          <p:cNvPr id="5" name="TextBox 4"/>
          <p:cNvSpPr txBox="1"/>
          <p:nvPr/>
        </p:nvSpPr>
        <p:spPr>
          <a:xfrm>
            <a:off x="777240" y="1874519"/>
            <a:ext cx="8778240" cy="640080"/>
          </a:xfrm>
          <a:prstGeom prst="rect">
            <a:avLst/>
          </a:prstGeom>
          <a:noFill/>
        </p:spPr>
        <p:txBody>
          <a:bodyPr wrap="square">
            <a:spAutoFit/>
          </a:bodyPr>
          <a:lstStyle/>
          <a:p>
            <a:pPr algn="l">
              <a:spcAft>
                <a:spcPts val="0"/>
              </a:spcAft>
            </a:pPr>
            <a:r>
              <a:rPr sz="1500" b="0">
                <a:solidFill>
                  <a:srgbClr val="54423E"/>
                </a:solidFill>
                <a:latin typeface="Red Hat Text"/>
              </a:rPr>
              <a:t>Nothing here requires a rewrite of a system of record.</a:t>
            </a:r>
          </a:p>
        </p:txBody>
      </p:sp>
      <p:graphicFrame>
        <p:nvGraphicFramePr>
          <p:cNvPr id="6" name="Table 5"/>
          <p:cNvGraphicFramePr>
            <a:graphicFrameLocks noGrp="1"/>
          </p:cNvGraphicFramePr>
          <p:nvPr/>
        </p:nvGraphicFramePr>
        <p:xfrm>
          <a:off x="777240" y="2514600"/>
          <a:ext cx="10616184" cy="1975104"/>
        </p:xfrm>
        <a:graphic>
          <a:graphicData uri="http://schemas.openxmlformats.org/drawingml/2006/table">
            <a:tbl>
              <a:tblPr firstRow="1" bandRow="1">
                <a:tableStyleId>{5C22544A-7EE6-4342-B048-85BDC9FD1C3A}</a:tableStyleId>
              </a:tblPr>
              <a:tblGrid>
                <a:gridCol w="3538728"/>
                <a:gridCol w="3538728"/>
                <a:gridCol w="3538728"/>
              </a:tblGrid>
              <a:tr h="329184">
                <a:tc>
                  <a:txBody>
                    <a:bodyPr wrap="square"/>
                    <a:lstStyle/>
                    <a:p>
                      <a:r>
                        <a:rPr sz="1050" b="1">
                          <a:solidFill>
                            <a:srgbClr val="8A7671"/>
                          </a:solidFill>
                          <a:latin typeface="Red Hat Mono"/>
                        </a:rPr>
                        <a:t>Prove — days 0–90</a:t>
                      </a:r>
                    </a:p>
                  </a:txBody>
                  <a:tcPr marL="109728" marR="109728" marT="45720" marB="45720">
                    <a:solidFill>
                      <a:srgbClr val="F4EFED"/>
                    </a:solidFill>
                  </a:tcPr>
                </a:tc>
                <a:tc>
                  <a:txBody>
                    <a:bodyPr wrap="square"/>
                    <a:lstStyle/>
                    <a:p>
                      <a:r>
                        <a:rPr sz="1050" b="1">
                          <a:solidFill>
                            <a:srgbClr val="8A7671"/>
                          </a:solidFill>
                          <a:latin typeface="Red Hat Mono"/>
                        </a:rPr>
                        <a:t>Ground — days 90–180</a:t>
                      </a:r>
                    </a:p>
                  </a:txBody>
                  <a:tcPr marL="109728" marR="109728" marT="45720" marB="45720">
                    <a:solidFill>
                      <a:srgbClr val="F4EFED"/>
                    </a:solidFill>
                  </a:tcPr>
                </a:tc>
                <a:tc>
                  <a:txBody>
                    <a:bodyPr wrap="square"/>
                    <a:lstStyle/>
                    <a:p>
                      <a:r>
                        <a:rPr sz="1050" b="1">
                          <a:solidFill>
                            <a:srgbClr val="8A7671"/>
                          </a:solidFill>
                          <a:latin typeface="Red Hat Mono"/>
                        </a:rPr>
                        <a:t>Scale — days 180+</a:t>
                      </a:r>
                    </a:p>
                  </a:txBody>
                  <a:tcPr marL="109728" marR="109728" marT="45720" marB="45720">
                    <a:solidFill>
                      <a:srgbClr val="F4EFED"/>
                    </a:solidFill>
                  </a:tcPr>
                </a:tc>
              </a:tr>
              <a:tr h="329184">
                <a:tc>
                  <a:txBody>
                    <a:bodyPr wrap="square"/>
                    <a:lstStyle/>
                    <a:p>
                      <a:r>
                        <a:rPr sz="1200" b="0">
                          <a:solidFill>
                            <a:srgbClr val="1B1211"/>
                          </a:solidFill>
                          <a:latin typeface="Red Hat Text"/>
                        </a:rPr>
                        <a:t>One endpoint on RHEL AI</a:t>
                      </a:r>
                    </a:p>
                  </a:txBody>
                  <a:tcPr marL="109728" marR="109728" marT="45720" marB="45720">
                    <a:solidFill>
                      <a:srgbClr val="FBF9F8"/>
                    </a:solidFill>
                  </a:tcPr>
                </a:tc>
                <a:tc>
                  <a:txBody>
                    <a:bodyPr wrap="square"/>
                    <a:lstStyle/>
                    <a:p>
                      <a:r>
                        <a:rPr sz="1200" b="0">
                          <a:solidFill>
                            <a:srgbClr val="1B1211"/>
                          </a:solidFill>
                          <a:latin typeface="Red Hat Text"/>
                        </a:rPr>
                        <a:t>Serving on OpenShift AI</a:t>
                      </a:r>
                    </a:p>
                  </a:txBody>
                  <a:tcPr marL="109728" marR="109728" marT="45720" marB="45720">
                    <a:solidFill>
                      <a:srgbClr val="FBF9F8"/>
                    </a:solidFill>
                  </a:tcPr>
                </a:tc>
                <a:tc>
                  <a:txBody>
                    <a:bodyPr wrap="square"/>
                    <a:lstStyle/>
                    <a:p>
                      <a:r>
                        <a:rPr sz="1200" b="0">
                          <a:solidFill>
                            <a:srgbClr val="1B1211"/>
                          </a:solidFill>
                          <a:latin typeface="Red Hat Text"/>
                        </a:rPr>
                        <a:t>Registry with real approvals</a:t>
                      </a:r>
                    </a:p>
                  </a:txBody>
                  <a:tcPr marL="109728" marR="109728" marT="45720" marB="45720">
                    <a:solidFill>
                      <a:srgbClr val="FBF9F8"/>
                    </a:solidFill>
                  </a:tcPr>
                </a:tc>
              </a:tr>
              <a:tr h="329184">
                <a:tc>
                  <a:txBody>
                    <a:bodyPr wrap="square"/>
                    <a:lstStyle/>
                    <a:p>
                      <a:r>
                        <a:rPr sz="1200" b="0">
                          <a:solidFill>
                            <a:srgbClr val="1B1211"/>
                          </a:solidFill>
                          <a:latin typeface="Red Hat Text"/>
                        </a:rPr>
                        <a:t>Accelerator capacity plan</a:t>
                      </a:r>
                    </a:p>
                  </a:txBody>
                  <a:tcPr marL="109728" marR="109728" marT="45720" marB="45720">
                    <a:solidFill>
                      <a:srgbClr val="FBF9F8"/>
                    </a:solidFill>
                  </a:tcPr>
                </a:tc>
                <a:tc>
                  <a:txBody>
                    <a:bodyPr wrap="square"/>
                    <a:lstStyle/>
                    <a:p>
                      <a:r>
                        <a:rPr sz="1200" b="0">
                          <a:solidFill>
                            <a:srgbClr val="1B1211"/>
                          </a:solidFill>
                          <a:latin typeface="Red Hat Text"/>
                        </a:rPr>
                        <a:t>Retrieval over your guidance</a:t>
                      </a:r>
                    </a:p>
                  </a:txBody>
                  <a:tcPr marL="109728" marR="109728" marT="45720" marB="45720">
                    <a:solidFill>
                      <a:srgbClr val="FBF9F8"/>
                    </a:solidFill>
                  </a:tcPr>
                </a:tc>
                <a:tc>
                  <a:txBody>
                    <a:bodyPr wrap="square"/>
                    <a:lstStyle/>
                    <a:p>
                      <a:r>
                        <a:rPr sz="1200" b="0">
                          <a:solidFill>
                            <a:srgbClr val="1B1211"/>
                          </a:solidFill>
                          <a:latin typeface="Red Hat Text"/>
                        </a:rPr>
                        <a:t>Workflows two to five</a:t>
                      </a:r>
                    </a:p>
                  </a:txBody>
                  <a:tcPr marL="109728" marR="109728" marT="45720" marB="45720">
                    <a:solidFill>
                      <a:srgbClr val="FBF9F8"/>
                    </a:solidFill>
                  </a:tcPr>
                </a:tc>
              </a:tr>
              <a:tr h="329184">
                <a:tc>
                  <a:txBody>
                    <a:bodyPr wrap="square"/>
                    <a:lstStyle/>
                    <a:p>
                      <a:r>
                        <a:rPr sz="1200" b="0">
                          <a:solidFill>
                            <a:srgbClr val="1B1211"/>
                          </a:solidFill>
                          <a:latin typeface="Red Hat Text"/>
                        </a:rPr>
                        <a:t>Data classes agreed in writing</a:t>
                      </a:r>
                    </a:p>
                  </a:txBody>
                  <a:tcPr marL="109728" marR="109728" marT="45720" marB="45720">
                    <a:solidFill>
                      <a:srgbClr val="FBF9F8"/>
                    </a:solidFill>
                  </a:tcPr>
                </a:tc>
                <a:tc>
                  <a:txBody>
                    <a:bodyPr wrap="square"/>
                    <a:lstStyle/>
                    <a:p>
                      <a:r>
                        <a:rPr sz="1200" b="0">
                          <a:solidFill>
                            <a:srgbClr val="1B1211"/>
                          </a:solidFill>
                          <a:latin typeface="Red Hat Text"/>
                        </a:rPr>
                        <a:t>Tune on agency vocabulary</a:t>
                      </a:r>
                    </a:p>
                  </a:txBody>
                  <a:tcPr marL="109728" marR="109728" marT="45720" marB="45720">
                    <a:solidFill>
                      <a:srgbClr val="FBF9F8"/>
                    </a:solidFill>
                  </a:tcPr>
                </a:tc>
                <a:tc>
                  <a:txBody>
                    <a:bodyPr wrap="square"/>
                    <a:lstStyle/>
                    <a:p>
                      <a:r>
                        <a:rPr sz="1200" b="0">
                          <a:solidFill>
                            <a:srgbClr val="1B1211"/>
                          </a:solidFill>
                          <a:latin typeface="Red Hat Text"/>
                        </a:rPr>
                        <a:t>Filing-season rehearsal</a:t>
                      </a:r>
                    </a:p>
                  </a:txBody>
                  <a:tcPr marL="109728" marR="109728" marT="45720" marB="45720">
                    <a:solidFill>
                      <a:srgbClr val="FBF9F8"/>
                    </a:solidFill>
                  </a:tcPr>
                </a:tc>
              </a:tr>
              <a:tr h="329184">
                <a:tc>
                  <a:txBody>
                    <a:bodyPr wrap="square"/>
                    <a:lstStyle/>
                    <a:p>
                      <a:r>
                        <a:rPr sz="1200" b="0">
                          <a:solidFill>
                            <a:srgbClr val="1B1211"/>
                          </a:solidFill>
                          <a:latin typeface="Red Hat Text"/>
                        </a:rPr>
                        <a:t>One workflow with a reviewer</a:t>
                      </a:r>
                    </a:p>
                  </a:txBody>
                  <a:tcPr marL="109728" marR="109728" marT="45720" marB="45720">
                    <a:solidFill>
                      <a:srgbClr val="FBF9F8"/>
                    </a:solidFill>
                  </a:tcPr>
                </a:tc>
                <a:tc>
                  <a:txBody>
                    <a:bodyPr wrap="square"/>
                    <a:lstStyle/>
                    <a:p>
                      <a:r>
                        <a:rPr sz="1200" b="0">
                          <a:solidFill>
                            <a:srgbClr val="1B1211"/>
                          </a:solidFill>
                          <a:latin typeface="Red Hat Text"/>
                        </a:rPr>
                        <a:t>Drift and compliance wired</a:t>
                      </a:r>
                    </a:p>
                  </a:txBody>
                  <a:tcPr marL="109728" marR="109728" marT="45720" marB="45720">
                    <a:solidFill>
                      <a:srgbClr val="FBF9F8"/>
                    </a:solidFill>
                  </a:tcPr>
                </a:tc>
                <a:tc>
                  <a:txBody>
                    <a:bodyPr wrap="square"/>
                    <a:lstStyle/>
                    <a:p>
                      <a:r>
                        <a:rPr sz="1200" b="0">
                          <a:solidFill>
                            <a:srgbClr val="1B1211"/>
                          </a:solidFill>
                          <a:latin typeface="Red Hat Text"/>
                        </a:rPr>
                        <a:t>Extend to the enclave</a:t>
                      </a:r>
                    </a:p>
                  </a:txBody>
                  <a:tcPr marL="109728" marR="109728" marT="45720" marB="45720">
                    <a:solidFill>
                      <a:srgbClr val="FBF9F8"/>
                    </a:solidFill>
                  </a:tcPr>
                </a:tc>
              </a:tr>
              <a:tr h="329184">
                <a:tc>
                  <a:txBody>
                    <a:bodyPr wrap="square"/>
                    <a:lstStyle/>
                    <a:p>
                      <a:r>
                        <a:rPr sz="1200" b="0">
                          <a:solidFill>
                            <a:srgbClr val="1B1211"/>
                          </a:solidFill>
                          <a:latin typeface="Red Hat Text"/>
                        </a:rPr>
                        <a:t>Baseline measured first</a:t>
                      </a:r>
                    </a:p>
                  </a:txBody>
                  <a:tcPr marL="109728" marR="109728" marT="45720" marB="45720">
                    <a:solidFill>
                      <a:srgbClr val="FBF9F8"/>
                    </a:solidFill>
                  </a:tcPr>
                </a:tc>
                <a:tc>
                  <a:txBody>
                    <a:bodyPr wrap="square"/>
                    <a:lstStyle/>
                    <a:p>
                      <a:r>
                        <a:rPr sz="1200" b="0">
                          <a:solidFill>
                            <a:srgbClr val="1B1211"/>
                          </a:solidFill>
                          <a:latin typeface="Red Hat Text"/>
                        </a:rPr>
                        <a:t>Provisioning automated</a:t>
                      </a:r>
                    </a:p>
                  </a:txBody>
                  <a:tcPr marL="109728" marR="109728" marT="45720" marB="45720">
                    <a:solidFill>
                      <a:srgbClr val="FBF9F8"/>
                    </a:solidFill>
                  </a:tcPr>
                </a:tc>
                <a:tc>
                  <a:txBody>
                    <a:bodyPr wrap="square"/>
                    <a:lstStyle/>
                    <a:p>
                      <a:r>
                        <a:rPr sz="1200" b="0">
                          <a:solidFill>
                            <a:srgbClr val="1B1211"/>
                          </a:solidFill>
                          <a:latin typeface="Red Hat Text"/>
                        </a:rPr>
                        <a:t>Report in mission terms</a:t>
                      </a:r>
                    </a:p>
                  </a:txBody>
                  <a:tcPr marL="109728" marR="109728" marT="45720" marB="45720">
                    <a:solidFill>
                      <a:srgbClr val="FBF9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HANDS ON</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Six labs — real commands, run them yourself</a:t>
            </a:r>
          </a:p>
        </p:txBody>
      </p:sp>
      <p:sp>
        <p:nvSpPr>
          <p:cNvPr id="5" name="TextBox 4"/>
          <p:cNvSpPr txBox="1"/>
          <p:nvPr/>
        </p:nvSpPr>
        <p:spPr>
          <a:xfrm>
            <a:off x="777240" y="1874519"/>
            <a:ext cx="8778240" cy="640080"/>
          </a:xfrm>
          <a:prstGeom prst="rect">
            <a:avLst/>
          </a:prstGeom>
          <a:noFill/>
        </p:spPr>
        <p:txBody>
          <a:bodyPr wrap="square">
            <a:spAutoFit/>
          </a:bodyPr>
          <a:lstStyle/>
          <a:p>
            <a:pPr algn="l">
              <a:spcAft>
                <a:spcPts val="0"/>
              </a:spcAft>
            </a:pPr>
            <a:r>
              <a:rPr sz="1500" b="0">
                <a:solidFill>
                  <a:srgbClr val="54423E"/>
                </a:solidFill>
                <a:latin typeface="Red Hat Text"/>
              </a:rPr>
              <a:t>Simulate mode needs no cluster, no GPU and no credentials.</a:t>
            </a:r>
          </a:p>
        </p:txBody>
      </p:sp>
      <p:graphicFrame>
        <p:nvGraphicFramePr>
          <p:cNvPr id="6" name="Table 5"/>
          <p:cNvGraphicFramePr>
            <a:graphicFrameLocks noGrp="1"/>
          </p:cNvGraphicFramePr>
          <p:nvPr/>
        </p:nvGraphicFramePr>
        <p:xfrm>
          <a:off x="777240" y="2514600"/>
          <a:ext cx="10607040" cy="2304288"/>
        </p:xfrm>
        <a:graphic>
          <a:graphicData uri="http://schemas.openxmlformats.org/drawingml/2006/table">
            <a:tbl>
              <a:tblPr firstRow="1" bandRow="1">
                <a:tableStyleId>{5C22544A-7EE6-4342-B048-85BDC9FD1C3A}</a:tableStyleId>
              </a:tblPr>
              <a:tblGrid>
                <a:gridCol w="914400"/>
                <a:gridCol w="6035040"/>
                <a:gridCol w="3657600"/>
              </a:tblGrid>
              <a:tr h="329184">
                <a:tc>
                  <a:txBody>
                    <a:bodyPr wrap="square"/>
                    <a:lstStyle/>
                    <a:p>
                      <a:r>
                        <a:rPr sz="1050" b="1">
                          <a:solidFill>
                            <a:srgbClr val="8A7671"/>
                          </a:solidFill>
                          <a:latin typeface="Red Hat Mono"/>
                        </a:rPr>
                        <a:t>Lab</a:t>
                      </a:r>
                    </a:p>
                  </a:txBody>
                  <a:tcPr marL="109728" marR="109728" marT="45720" marB="45720">
                    <a:solidFill>
                      <a:srgbClr val="F4EFED"/>
                    </a:solidFill>
                  </a:tcPr>
                </a:tc>
                <a:tc>
                  <a:txBody>
                    <a:bodyPr wrap="square"/>
                    <a:lstStyle/>
                    <a:p>
                      <a:r>
                        <a:rPr sz="1050" b="1">
                          <a:solidFill>
                            <a:srgbClr val="8A7671"/>
                          </a:solidFill>
                          <a:latin typeface="Red Hat Mono"/>
                        </a:rPr>
                        <a:t>What you do</a:t>
                      </a:r>
                    </a:p>
                  </a:txBody>
                  <a:tcPr marL="109728" marR="109728" marT="45720" marB="45720">
                    <a:solidFill>
                      <a:srgbClr val="F4EFED"/>
                    </a:solidFill>
                  </a:tcPr>
                </a:tc>
                <a:tc>
                  <a:txBody>
                    <a:bodyPr wrap="square"/>
                    <a:lstStyle/>
                    <a:p>
                      <a:r>
                        <a:rPr sz="1050" b="1">
                          <a:solidFill>
                            <a:srgbClr val="8A7671"/>
                          </a:solidFill>
                          <a:latin typeface="Red Hat Mono"/>
                        </a:rPr>
                        <a:t>Product</a:t>
                      </a:r>
                    </a:p>
                  </a:txBody>
                  <a:tcPr marL="109728" marR="109728" marT="45720" marB="45720">
                    <a:solidFill>
                      <a:srgbClr val="F4EFED"/>
                    </a:solidFill>
                  </a:tcPr>
                </a:tc>
              </a:tr>
              <a:tr h="329184">
                <a:tc>
                  <a:txBody>
                    <a:bodyPr wrap="square"/>
                    <a:lstStyle/>
                    <a:p>
                      <a:r>
                        <a:rPr sz="1200" b="0">
                          <a:solidFill>
                            <a:srgbClr val="1B1211"/>
                          </a:solidFill>
                          <a:latin typeface="Red Hat Mono"/>
                        </a:rPr>
                        <a:t>01</a:t>
                      </a:r>
                    </a:p>
                  </a:txBody>
                  <a:tcPr marL="109728" marR="109728" marT="45720" marB="45720">
                    <a:solidFill>
                      <a:srgbClr val="FBF9F8"/>
                    </a:solidFill>
                  </a:tcPr>
                </a:tc>
                <a:tc>
                  <a:txBody>
                    <a:bodyPr wrap="square"/>
                    <a:lstStyle/>
                    <a:p>
                      <a:r>
                        <a:rPr sz="1200" b="0">
                          <a:solidFill>
                            <a:srgbClr val="1B1211"/>
                          </a:solidFill>
                          <a:latin typeface="Red Hat Text"/>
                        </a:rPr>
                        <a:t>Serve a model inside your boundary</a:t>
                      </a:r>
                    </a:p>
                  </a:txBody>
                  <a:tcPr marL="109728" marR="109728" marT="45720" marB="45720">
                    <a:solidFill>
                      <a:srgbClr val="FBF9F8"/>
                    </a:solidFill>
                  </a:tcPr>
                </a:tc>
                <a:tc>
                  <a:txBody>
                    <a:bodyPr wrap="square"/>
                    <a:lstStyle/>
                    <a:p>
                      <a:r>
                        <a:rPr sz="1200" b="0">
                          <a:solidFill>
                            <a:srgbClr val="1B1211"/>
                          </a:solidFill>
                          <a:latin typeface="Red Hat Mono"/>
                        </a:rPr>
                        <a:t>RHEL AI</a:t>
                      </a:r>
                    </a:p>
                  </a:txBody>
                  <a:tcPr marL="109728" marR="109728" marT="45720" marB="45720">
                    <a:solidFill>
                      <a:srgbClr val="FBF9F8"/>
                    </a:solidFill>
                  </a:tcPr>
                </a:tc>
              </a:tr>
              <a:tr h="329184">
                <a:tc>
                  <a:txBody>
                    <a:bodyPr wrap="square"/>
                    <a:lstStyle/>
                    <a:p>
                      <a:r>
                        <a:rPr sz="1200" b="0">
                          <a:solidFill>
                            <a:srgbClr val="1B1211"/>
                          </a:solidFill>
                          <a:latin typeface="Red Hat Mono"/>
                        </a:rPr>
                        <a:t>02</a:t>
                      </a:r>
                    </a:p>
                  </a:txBody>
                  <a:tcPr marL="109728" marR="109728" marT="45720" marB="45720">
                    <a:solidFill>
                      <a:srgbClr val="FBF9F8"/>
                    </a:solidFill>
                  </a:tcPr>
                </a:tc>
                <a:tc>
                  <a:txBody>
                    <a:bodyPr wrap="square"/>
                    <a:lstStyle/>
                    <a:p>
                      <a:r>
                        <a:rPr sz="1200" b="0">
                          <a:solidFill>
                            <a:srgbClr val="1B1211"/>
                          </a:solidFill>
                          <a:latin typeface="Red Hat Text"/>
                        </a:rPr>
                        <a:t>Teach it your notice taxonomy</a:t>
                      </a:r>
                    </a:p>
                  </a:txBody>
                  <a:tcPr marL="109728" marR="109728" marT="45720" marB="45720">
                    <a:solidFill>
                      <a:srgbClr val="FBF9F8"/>
                    </a:solidFill>
                  </a:tcPr>
                </a:tc>
                <a:tc>
                  <a:txBody>
                    <a:bodyPr wrap="square"/>
                    <a:lstStyle/>
                    <a:p>
                      <a:r>
                        <a:rPr sz="1200" b="0">
                          <a:solidFill>
                            <a:srgbClr val="1B1211"/>
                          </a:solidFill>
                          <a:latin typeface="Red Hat Mono"/>
                        </a:rPr>
                        <a:t>InstructLab</a:t>
                      </a:r>
                    </a:p>
                  </a:txBody>
                  <a:tcPr marL="109728" marR="109728" marT="45720" marB="45720">
                    <a:solidFill>
                      <a:srgbClr val="FBF9F8"/>
                    </a:solidFill>
                  </a:tcPr>
                </a:tc>
              </a:tr>
              <a:tr h="329184">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Text"/>
                        </a:rPr>
                        <a:t>Survive filing season</a:t>
                      </a:r>
                    </a:p>
                  </a:txBody>
                  <a:tcPr marL="109728" marR="109728" marT="45720" marB="45720">
                    <a:solidFill>
                      <a:srgbClr val="FBF9F8"/>
                    </a:solidFill>
                  </a:tcPr>
                </a:tc>
                <a:tc>
                  <a:txBody>
                    <a:bodyPr wrap="square"/>
                    <a:lstStyle/>
                    <a:p>
                      <a:r>
                        <a:rPr sz="1200" b="0">
                          <a:solidFill>
                            <a:srgbClr val="1B1211"/>
                          </a:solidFill>
                          <a:latin typeface="Red Hat Mono"/>
                        </a:rPr>
                        <a:t>OpenShift AI</a:t>
                      </a:r>
                    </a:p>
                  </a:txBody>
                  <a:tcPr marL="109728" marR="109728" marT="45720" marB="45720">
                    <a:solidFill>
                      <a:srgbClr val="FBF9F8"/>
                    </a:solidFill>
                  </a:tcPr>
                </a:tc>
              </a:tr>
              <a:tr h="329184">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Text"/>
                        </a:rPr>
                        <a:t>Ground answers in your guidance</a:t>
                      </a:r>
                    </a:p>
                  </a:txBody>
                  <a:tcPr marL="109728" marR="109728" marT="45720" marB="45720">
                    <a:solidFill>
                      <a:srgbClr val="FBF9F8"/>
                    </a:solidFill>
                  </a:tcPr>
                </a:tc>
                <a:tc>
                  <a:txBody>
                    <a:bodyPr wrap="square"/>
                    <a:lstStyle/>
                    <a:p>
                      <a:r>
                        <a:rPr sz="1200" b="0">
                          <a:solidFill>
                            <a:srgbClr val="1B1211"/>
                          </a:solidFill>
                          <a:latin typeface="Red Hat Mono"/>
                        </a:rPr>
                        <a:t>Retrieval</a:t>
                      </a:r>
                    </a:p>
                  </a:txBody>
                  <a:tcPr marL="109728" marR="109728" marT="45720" marB="45720">
                    <a:solidFill>
                      <a:srgbClr val="FBF9F8"/>
                    </a:solidFill>
                  </a:tcPr>
                </a:tc>
              </a:tr>
              <a:tr h="329184">
                <a:tc>
                  <a:txBody>
                    <a:bodyPr wrap="square"/>
                    <a:lstStyle/>
                    <a:p>
                      <a:r>
                        <a:rPr sz="1200" b="0">
                          <a:solidFill>
                            <a:srgbClr val="1B1211"/>
                          </a:solidFill>
                          <a:latin typeface="Red Hat Mono"/>
                        </a:rPr>
                        <a:t>05</a:t>
                      </a:r>
                    </a:p>
                  </a:txBody>
                  <a:tcPr marL="109728" marR="109728" marT="45720" marB="45720">
                    <a:solidFill>
                      <a:srgbClr val="FBF9F8"/>
                    </a:solidFill>
                  </a:tcPr>
                </a:tc>
                <a:tc>
                  <a:txBody>
                    <a:bodyPr wrap="square"/>
                    <a:lstStyle/>
                    <a:p>
                      <a:r>
                        <a:rPr sz="1200" b="0">
                          <a:solidFill>
                            <a:srgbClr val="1B1211"/>
                          </a:solidFill>
                          <a:latin typeface="Red Hat Text"/>
                        </a:rPr>
                        <a:t>Automate the toil around the model</a:t>
                      </a:r>
                    </a:p>
                  </a:txBody>
                  <a:tcPr marL="109728" marR="109728" marT="45720" marB="45720">
                    <a:solidFill>
                      <a:srgbClr val="FBF9F8"/>
                    </a:solidFill>
                  </a:tcPr>
                </a:tc>
                <a:tc>
                  <a:txBody>
                    <a:bodyPr wrap="square"/>
                    <a:lstStyle/>
                    <a:p>
                      <a:r>
                        <a:rPr sz="1200" b="0">
                          <a:solidFill>
                            <a:srgbClr val="1B1211"/>
                          </a:solidFill>
                          <a:latin typeface="Red Hat Mono"/>
                        </a:rPr>
                        <a:t>Ansible</a:t>
                      </a:r>
                    </a:p>
                  </a:txBody>
                  <a:tcPr marL="109728" marR="109728" marT="45720" marB="45720">
                    <a:solidFill>
                      <a:srgbClr val="FBF9F8"/>
                    </a:solidFill>
                  </a:tcPr>
                </a:tc>
              </a:tr>
              <a:tr h="329184">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Text"/>
                        </a:rPr>
                        <a:t>Prove it to your ISSO</a:t>
                      </a:r>
                    </a:p>
                  </a:txBody>
                  <a:tcPr marL="109728" marR="109728" marT="45720" marB="45720">
                    <a:solidFill>
                      <a:srgbClr val="FBF9F8"/>
                    </a:solidFill>
                  </a:tcPr>
                </a:tc>
                <a:tc>
                  <a:txBody>
                    <a:bodyPr wrap="square"/>
                    <a:lstStyle/>
                    <a:p>
                      <a:r>
                        <a:rPr sz="1200" b="0">
                          <a:solidFill>
                            <a:srgbClr val="1B1211"/>
                          </a:solidFill>
                          <a:latin typeface="Red Hat Mono"/>
                        </a:rPr>
                        <a:t>Compliance, TrustyAI</a:t>
                      </a:r>
                    </a:p>
                  </a:txBody>
                  <a:tcPr marL="109728" marR="109728" marT="45720" marB="45720">
                    <a:solidFill>
                      <a:srgbClr val="FBF9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10896"/>
          </a:xfrm>
          <a:prstGeom prst="rect">
            <a:avLst/>
          </a:prstGeom>
          <a:noFill/>
        </p:spPr>
        <p:txBody>
          <a:bodyPr wrap="square">
            <a:spAutoFit/>
          </a:bodyPr>
          <a:lstStyle/>
          <a:p>
            <a:pPr algn="l">
              <a:spcAft>
                <a:spcPts val="0"/>
              </a:spcAft>
            </a:pPr>
            <a:r>
              <a:rPr sz="1100" b="1">
                <a:solidFill>
                  <a:srgbClr val="8A7671"/>
                </a:solidFill>
                <a:latin typeface="Red Hat Mono"/>
              </a:rPr>
              <a:t>NEXT STEPS</a:t>
            </a:r>
          </a:p>
        </p:txBody>
      </p:sp>
      <p:sp>
        <p:nvSpPr>
          <p:cNvPr id="4" name="TextBox 3"/>
          <p:cNvSpPr txBox="1"/>
          <p:nvPr/>
        </p:nvSpPr>
        <p:spPr>
          <a:xfrm>
            <a:off x="777240" y="932688"/>
            <a:ext cx="10637215" cy="914400"/>
          </a:xfrm>
          <a:prstGeom prst="rect">
            <a:avLst/>
          </a:prstGeom>
          <a:noFill/>
        </p:spPr>
        <p:txBody>
          <a:bodyPr wrap="square">
            <a:spAutoFit/>
          </a:bodyPr>
          <a:lstStyle/>
          <a:p>
            <a:pPr algn="l">
              <a:spcAft>
                <a:spcPts val="0"/>
              </a:spcAft>
            </a:pPr>
            <a:r>
              <a:rPr sz="3400" b="1">
                <a:solidFill>
                  <a:srgbClr val="1B1211"/>
                </a:solidFill>
                <a:latin typeface="Red Hat Display"/>
              </a:rPr>
              <a:t>What happens after this hour</a:t>
            </a:r>
          </a:p>
        </p:txBody>
      </p:sp>
      <p:sp>
        <p:nvSpPr>
          <p:cNvPr id="5" name="Rectangle 4"/>
          <p:cNvSpPr/>
          <p:nvPr/>
        </p:nvSpPr>
        <p:spPr>
          <a:xfrm>
            <a:off x="777240" y="237744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237744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Architecture workshop</a:t>
            </a:r>
          </a:p>
          <a:p>
            <a:pPr algn="l">
              <a:spcAft>
                <a:spcPts val="0"/>
              </a:spcAft>
            </a:pPr>
            <a:r>
              <a:rPr sz="1200" b="0">
                <a:solidFill>
                  <a:srgbClr val="54423E"/>
                </a:solidFill>
                <a:latin typeface="Red Hat Text"/>
              </a:rPr>
              <a:t>Half a day with your platform and security teams to size accelerators, place the first workload and name the data classes in scope.</a:t>
            </a:r>
          </a:p>
        </p:txBody>
      </p:sp>
      <p:sp>
        <p:nvSpPr>
          <p:cNvPr id="7" name="Rectangle 6"/>
          <p:cNvSpPr/>
          <p:nvPr/>
        </p:nvSpPr>
        <p:spPr>
          <a:xfrm>
            <a:off x="4420514" y="237744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5106" y="237744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Guided pilot</a:t>
            </a:r>
          </a:p>
          <a:p>
            <a:pPr algn="l">
              <a:spcAft>
                <a:spcPts val="0"/>
              </a:spcAft>
            </a:pPr>
            <a:r>
              <a:rPr sz="1200" b="0">
                <a:solidFill>
                  <a:srgbClr val="54423E"/>
                </a:solidFill>
                <a:latin typeface="Red Hat Text"/>
              </a:rPr>
              <a:t>One workflow, on your infrastructure, with a measured baseline and an agreed definition of success before we start.</a:t>
            </a:r>
          </a:p>
        </p:txBody>
      </p:sp>
      <p:sp>
        <p:nvSpPr>
          <p:cNvPr id="9" name="Rectangle 8"/>
          <p:cNvSpPr/>
          <p:nvPr/>
        </p:nvSpPr>
        <p:spPr>
          <a:xfrm>
            <a:off x="8063788" y="2377440"/>
            <a:ext cx="41148" cy="17373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8380" y="2377440"/>
            <a:ext cx="3186074" cy="1737360"/>
          </a:xfrm>
          <a:prstGeom prst="rect">
            <a:avLst/>
          </a:prstGeom>
          <a:noFill/>
        </p:spPr>
        <p:txBody>
          <a:bodyPr wrap="square">
            <a:spAutoFit/>
          </a:bodyPr>
          <a:lstStyle/>
          <a:p>
            <a:pPr algn="l">
              <a:spcAft>
                <a:spcPts val="600"/>
              </a:spcAft>
            </a:pPr>
            <a:r>
              <a:rPr sz="1500" b="1">
                <a:solidFill>
                  <a:srgbClr val="1B1211"/>
                </a:solidFill>
                <a:latin typeface="Red Hat Display"/>
              </a:rPr>
              <a:t>Acquisition path</a:t>
            </a:r>
          </a:p>
          <a:p>
            <a:pPr algn="l">
              <a:spcAft>
                <a:spcPts val="0"/>
              </a:spcAft>
            </a:pPr>
            <a:r>
              <a:rPr sz="1200" b="0">
                <a:solidFill>
                  <a:srgbClr val="54423E"/>
                </a:solidFill>
                <a:latin typeface="Red Hat Text"/>
              </a:rPr>
              <a:t>Four Inc. and Carahsoft carry the vehicles and pricing. Bring them into the conversation early, not at the end.</a:t>
            </a:r>
          </a:p>
        </p:txBody>
      </p:sp>
      <p:sp>
        <p:nvSpPr>
          <p:cNvPr id="11" name="TextBox 10"/>
          <p:cNvSpPr txBox="1"/>
          <p:nvPr/>
        </p:nvSpPr>
        <p:spPr>
          <a:xfrm>
            <a:off x="777240" y="4754880"/>
            <a:ext cx="10515600" cy="1188720"/>
          </a:xfrm>
          <a:prstGeom prst="rect">
            <a:avLst/>
          </a:prstGeom>
          <a:noFill/>
        </p:spPr>
        <p:txBody>
          <a:bodyPr wrap="square">
            <a:spAutoFit/>
          </a:bodyPr>
          <a:lstStyle/>
          <a:p>
            <a:pPr algn="l">
              <a:spcAft>
                <a:spcPts val="800"/>
              </a:spcAft>
            </a:pPr>
            <a:r>
              <a:rPr sz="1700" b="1">
                <a:solidFill>
                  <a:srgbClr val="1B1211"/>
                </a:solidFill>
                <a:latin typeface="Red Hat Display"/>
              </a:rPr>
              <a:t>One thing to remember</a:t>
            </a:r>
          </a:p>
          <a:p>
            <a:pPr algn="l">
              <a:spcAft>
                <a:spcPts val="0"/>
              </a:spcAft>
            </a:pPr>
            <a:r>
              <a:rPr sz="1400" b="0">
                <a:solidFill>
                  <a:srgbClr val="54423E"/>
                </a:solidFill>
                <a:latin typeface="Red Hat Text"/>
              </a:rPr>
              <a:t>Nothing in these six labs required a public model endpoint, an internet connection at inference time, or a rewrite of a system of record. That is the whole argument.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